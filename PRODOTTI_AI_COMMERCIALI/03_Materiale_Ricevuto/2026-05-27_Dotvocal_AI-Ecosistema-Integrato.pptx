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5143500" cy="9144000"/>
  <p:embeddedFontLst>
    <p:embeddedFont>
      <p:font typeface="Poppins SemiBold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jpIcx2felIl0w31tT8vnD+rLQC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PoppinsSemiBold-bold.fntdata"/><Relationship Id="rId14" Type="http://schemas.openxmlformats.org/officeDocument/2006/relationships/font" Target="fonts/PoppinsSemiBold-regular.fntdata"/><Relationship Id="rId17" Type="http://schemas.openxmlformats.org/officeDocument/2006/relationships/font" Target="fonts/PoppinsSemiBold-boldItalic.fntdata"/><Relationship Id="rId16" Type="http://schemas.openxmlformats.org/officeDocument/2006/relationships/font" Target="fonts/PoppinsSemiBold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" name="Google Shape;3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" name="Google Shape;8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" name="Google Shape;15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6" name="Google Shape;21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8" name="Google Shape;22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2" name="Google Shape;27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5E6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04594"/>
          </a:solidFill>
          <a:ln cap="flat" cmpd="sng" w="12700">
            <a:solidFill>
              <a:srgbClr val="1045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7132320" y="-1097280"/>
            <a:ext cx="4114800" cy="4114800"/>
          </a:xfrm>
          <a:prstGeom prst="ellipse">
            <a:avLst/>
          </a:prstGeom>
          <a:solidFill>
            <a:srgbClr val="1A56E8">
              <a:alpha val="12156"/>
            </a:srgbClr>
          </a:solidFill>
          <a:ln cap="flat" cmpd="sng" w="12700">
            <a:solidFill>
              <a:srgbClr val="1A56E8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7863840" y="-365760"/>
            <a:ext cx="2560320" cy="2560320"/>
          </a:xfrm>
          <a:prstGeom prst="ellipse">
            <a:avLst/>
          </a:prstGeom>
          <a:solidFill>
            <a:srgbClr val="5B3FC2">
              <a:alpha val="14901"/>
            </a:srgbClr>
          </a:solidFill>
          <a:ln cap="flat" cmpd="sng" w="12700">
            <a:solidFill>
              <a:srgbClr val="5B3FC2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548640" y="457200"/>
            <a:ext cx="1828800" cy="292608"/>
          </a:xfrm>
          <a:prstGeom prst="roundRect">
            <a:avLst>
              <a:gd fmla="val 31250" name="adj"/>
            </a:avLst>
          </a:prstGeom>
          <a:solidFill>
            <a:srgbClr val="104594"/>
          </a:solidFill>
          <a:ln cap="flat" cmpd="sng" w="12700">
            <a:solidFill>
              <a:srgbClr val="1045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48750" y="457200"/>
            <a:ext cx="1828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A3F8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FDF5E6"/>
                </a:solidFill>
                <a:latin typeface="Calibri"/>
                <a:ea typeface="Calibri"/>
                <a:cs typeface="Calibri"/>
                <a:sym typeface="Calibri"/>
              </a:rPr>
              <a:t>✦  AI WEEK  ·  PRESENTAZIONE PARTNER</a:t>
            </a:r>
            <a:endParaRPr b="0" i="0" sz="700" u="none" cap="none" strike="noStrike">
              <a:solidFill>
                <a:srgbClr val="FDF5E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548650" y="868676"/>
            <a:ext cx="7772400" cy="125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Georgia"/>
              <a:buNone/>
            </a:pPr>
            <a:r>
              <a:rPr lang="en-US" sz="3400">
                <a:solidFill>
                  <a:srgbClr val="10459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Un flusso unico dal cliente</a:t>
            </a:r>
            <a:endParaRPr sz="3400">
              <a:solidFill>
                <a:srgbClr val="104594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Georgia"/>
              <a:buNone/>
            </a:pPr>
            <a:r>
              <a:rPr lang="en-US" sz="3400">
                <a:solidFill>
                  <a:srgbClr val="10459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all’analisi strategica</a:t>
            </a:r>
            <a:endParaRPr sz="3400">
              <a:solidFill>
                <a:srgbClr val="104594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548640" y="2267712"/>
            <a:ext cx="56692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93A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A93A8"/>
                </a:solidFill>
                <a:latin typeface="Calibri"/>
                <a:ea typeface="Calibri"/>
                <a:cs typeface="Calibri"/>
                <a:sym typeface="Calibri"/>
              </a:rPr>
              <a:t>Quattro soluzioni complementari per digitalizzare, automatizzare e controllare ogni area del tuo business — dalla prima interazione col cliente al cruscotto direzionale strategico.</a:t>
            </a:r>
            <a:endParaRPr sz="1300">
              <a:solidFill>
                <a:srgbClr val="8A93A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548648" y="3794750"/>
            <a:ext cx="6168900" cy="777300"/>
          </a:xfrm>
          <a:prstGeom prst="rect">
            <a:avLst/>
          </a:prstGeom>
          <a:solidFill>
            <a:srgbClr val="104594"/>
          </a:solidFill>
          <a:ln cap="flat" cmpd="sng" w="12700">
            <a:solidFill>
              <a:srgbClr val="6FA3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731520" y="3822192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i="0" lang="en-US" sz="2200" u="none" cap="none" strike="noStrike">
                <a:solidFill>
                  <a:srgbClr val="FDF5E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4</a:t>
            </a:r>
            <a:endParaRPr i="0" sz="2200" u="none" cap="none" strike="noStrike">
              <a:solidFill>
                <a:srgbClr val="FDF5E6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731520" y="4187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3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8D0E0"/>
                </a:solidFill>
                <a:latin typeface="Calibri"/>
                <a:ea typeface="Calibri"/>
                <a:cs typeface="Calibri"/>
                <a:sym typeface="Calibri"/>
              </a:rPr>
              <a:t>Soluzioni integrate</a:t>
            </a:r>
            <a:endParaRPr b="0" i="0" sz="900" u="none" cap="none" strike="noStrike">
              <a:solidFill>
                <a:srgbClr val="C8D0E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2560320" y="3886200"/>
            <a:ext cx="13716" cy="548640"/>
          </a:xfrm>
          <a:prstGeom prst="rect">
            <a:avLst/>
          </a:prstGeom>
          <a:solidFill>
            <a:srgbClr val="6FA3F8"/>
          </a:solidFill>
          <a:ln cap="flat" cmpd="sng" w="12700">
            <a:solidFill>
              <a:srgbClr val="6FA3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2743200" y="3822192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i="0" lang="en-US" sz="2200" u="none" cap="none" strike="noStrike">
                <a:solidFill>
                  <a:srgbClr val="FDF5E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360°</a:t>
            </a:r>
            <a:endParaRPr i="0" sz="2200" u="none" cap="none" strike="noStrike">
              <a:solidFill>
                <a:srgbClr val="FDF5E6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2743200" y="4187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3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8D0E0"/>
                </a:solidFill>
                <a:latin typeface="Calibri"/>
                <a:ea typeface="Calibri"/>
                <a:cs typeface="Calibri"/>
                <a:sym typeface="Calibri"/>
              </a:rPr>
              <a:t>Copertura operativa</a:t>
            </a:r>
            <a:endParaRPr b="0" i="0" sz="900" u="none" cap="none" strike="noStrike">
              <a:solidFill>
                <a:srgbClr val="C8D0E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4572000" y="3886200"/>
            <a:ext cx="13716" cy="548640"/>
          </a:xfrm>
          <a:prstGeom prst="rect">
            <a:avLst/>
          </a:prstGeom>
          <a:solidFill>
            <a:srgbClr val="6FA3F8"/>
          </a:solidFill>
          <a:ln cap="flat" cmpd="sng" w="12700">
            <a:solidFill>
              <a:srgbClr val="6FA3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4754880" y="3822192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lang="en-US" sz="2200">
                <a:solidFill>
                  <a:srgbClr val="FDF5E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Aziende</a:t>
            </a:r>
            <a:endParaRPr i="0" sz="2200" u="none" cap="none" strike="noStrike">
              <a:solidFill>
                <a:srgbClr val="FDF5E6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4754880" y="4187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3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8D0E0"/>
                </a:solidFill>
                <a:latin typeface="Calibri"/>
                <a:ea typeface="Calibri"/>
                <a:cs typeface="Calibri"/>
                <a:sym typeface="Calibri"/>
              </a:rPr>
              <a:t>Pensato per l'Italia</a:t>
            </a:r>
            <a:endParaRPr b="0" i="0" sz="900" u="none" cap="none" strike="noStrike">
              <a:solidFill>
                <a:srgbClr val="C8D0E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5E6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4594"/>
          </a:solidFill>
          <a:ln cap="flat" cmpd="sng" w="12700">
            <a:solidFill>
              <a:srgbClr val="1045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56E8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8A93A8"/>
                </a:solidFill>
                <a:latin typeface="Calibri"/>
                <a:ea typeface="Calibri"/>
                <a:cs typeface="Calibri"/>
                <a:sym typeface="Calibri"/>
              </a:rPr>
              <a:t>IL PERCORSO DEL VALORE</a:t>
            </a:r>
            <a:endParaRPr b="0" i="0" sz="800" u="none" cap="none" strike="noStrike">
              <a:solidFill>
                <a:srgbClr val="8A93A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E14"/>
              </a:buClr>
              <a:buSzPts val="2400"/>
              <a:buFont typeface="Georgia"/>
              <a:buNone/>
            </a:pPr>
            <a:r>
              <a:rPr lang="en-US" sz="2400">
                <a:solidFill>
                  <a:srgbClr val="10459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L’ecosistema AI Integrato per la tua Azienda</a:t>
            </a:r>
            <a:endParaRPr i="0" sz="2400" u="none" cap="none" strike="noStrike">
              <a:solidFill>
                <a:srgbClr val="104594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342915" y="1187983"/>
            <a:ext cx="1737300" cy="2286000"/>
          </a:xfrm>
          <a:prstGeom prst="rect">
            <a:avLst/>
          </a:prstGeom>
          <a:solidFill>
            <a:srgbClr val="FDF5E6"/>
          </a:solidFill>
          <a:ln cap="flat" cmpd="sng" w="9525">
            <a:solidFill>
              <a:srgbClr val="1A56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342915" y="1187983"/>
            <a:ext cx="1737300" cy="45600"/>
          </a:xfrm>
          <a:prstGeom prst="rect">
            <a:avLst/>
          </a:prstGeom>
          <a:solidFill>
            <a:srgbClr val="1A56E8"/>
          </a:solidFill>
          <a:ln cap="flat" cmpd="sng" w="12700">
            <a:solidFill>
              <a:srgbClr val="1A5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864123" y="1462303"/>
            <a:ext cx="694800" cy="694800"/>
          </a:xfrm>
          <a:prstGeom prst="ellipse">
            <a:avLst/>
          </a:prstGeom>
          <a:solidFill>
            <a:srgbClr val="EBF0FD"/>
          </a:solidFill>
          <a:ln cap="flat" cmpd="sng" w="12700">
            <a:solidFill>
              <a:srgbClr val="EBF0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864123" y="1462303"/>
            <a:ext cx="6948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🎙️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452643" y="1297711"/>
            <a:ext cx="320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56E8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A56E8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434355" y="2358415"/>
            <a:ext cx="1554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E14"/>
              </a:buClr>
              <a:buSzPts val="1500"/>
              <a:buFont typeface="Georgia"/>
              <a:buNone/>
            </a:pPr>
            <a:r>
              <a:rPr i="0" lang="en-US" sz="1500" u="none" cap="none" strike="noStrike">
                <a:solidFill>
                  <a:srgbClr val="10459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Interazione</a:t>
            </a:r>
            <a:endParaRPr i="0" sz="1500" u="none" cap="none" strike="noStrike">
              <a:solidFill>
                <a:srgbClr val="104594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34355" y="2651023"/>
            <a:ext cx="1554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3A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A93A8"/>
                </a:solidFill>
                <a:latin typeface="Calibri"/>
                <a:ea typeface="Calibri"/>
                <a:cs typeface="Calibri"/>
                <a:sym typeface="Calibri"/>
              </a:rPr>
              <a:t>col cliente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617235" y="2971063"/>
            <a:ext cx="1188600" cy="11100"/>
          </a:xfrm>
          <a:prstGeom prst="rect">
            <a:avLst/>
          </a:prstGeom>
          <a:solidFill>
            <a:srgbClr val="DDDBD5"/>
          </a:solidFill>
          <a:ln cap="flat" cmpd="sng" w="12700">
            <a:solidFill>
              <a:srgbClr val="DDD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434355" y="3108223"/>
            <a:ext cx="1554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56E8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A56E8"/>
                </a:solidFill>
                <a:latin typeface="Calibri"/>
                <a:ea typeface="Calibri"/>
                <a:cs typeface="Calibri"/>
                <a:sym typeface="Calibri"/>
              </a:rPr>
              <a:t>Suite </a:t>
            </a:r>
            <a:r>
              <a:rPr b="1" i="0" lang="en-US" sz="1100" u="none" cap="none" strike="noStrike">
                <a:solidFill>
                  <a:srgbClr val="1A56E8"/>
                </a:solidFill>
                <a:latin typeface="Calibri"/>
                <a:ea typeface="Calibri"/>
                <a:cs typeface="Calibri"/>
                <a:sym typeface="Calibri"/>
              </a:rPr>
              <a:t>Dot Vocal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2130567" y="2148103"/>
            <a:ext cx="402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A3F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04594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rgbClr val="10459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2583195" y="1187983"/>
            <a:ext cx="1737300" cy="2286000"/>
          </a:xfrm>
          <a:prstGeom prst="rect">
            <a:avLst/>
          </a:prstGeom>
          <a:solidFill>
            <a:srgbClr val="FDF5E6"/>
          </a:solidFill>
          <a:ln cap="flat" cmpd="sng" w="9525">
            <a:solidFill>
              <a:srgbClr val="E94E3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2583195" y="1187983"/>
            <a:ext cx="1737300" cy="45600"/>
          </a:xfrm>
          <a:prstGeom prst="rect">
            <a:avLst/>
          </a:prstGeom>
          <a:solidFill>
            <a:srgbClr val="E94E3E"/>
          </a:solidFill>
          <a:ln cap="flat" cmpd="sng" w="12700">
            <a:solidFill>
              <a:srgbClr val="E94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3104403" y="1462303"/>
            <a:ext cx="694800" cy="694800"/>
          </a:xfrm>
          <a:prstGeom prst="ellipse">
            <a:avLst/>
          </a:prstGeom>
          <a:solidFill>
            <a:srgbClr val="F0ECFC"/>
          </a:solidFill>
          <a:ln cap="flat" cmpd="sng" w="12700">
            <a:solidFill>
              <a:srgbClr val="F0E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3104403" y="1462303"/>
            <a:ext cx="6948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2692923" y="1297711"/>
            <a:ext cx="320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FC2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E94E3E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800" u="none" cap="none" strike="noStrike">
              <a:solidFill>
                <a:srgbClr val="E94E3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2674635" y="2358415"/>
            <a:ext cx="1554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E14"/>
              </a:buClr>
              <a:buSzPts val="1500"/>
              <a:buFont typeface="Georgia"/>
              <a:buNone/>
            </a:pPr>
            <a:r>
              <a:rPr i="0" lang="en-US" sz="1500" u="none" cap="none" strike="noStrike">
                <a:solidFill>
                  <a:srgbClr val="10459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Conoscenza</a:t>
            </a:r>
            <a:endParaRPr i="0" sz="1500" u="none" cap="none" strike="noStrike">
              <a:solidFill>
                <a:srgbClr val="104594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2674635" y="2651023"/>
            <a:ext cx="1554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3A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A93A8"/>
                </a:solidFill>
                <a:latin typeface="Calibri"/>
                <a:ea typeface="Calibri"/>
                <a:cs typeface="Calibri"/>
                <a:sym typeface="Calibri"/>
              </a:rPr>
              <a:t>aziendale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2857515" y="2971063"/>
            <a:ext cx="1188600" cy="11100"/>
          </a:xfrm>
          <a:prstGeom prst="rect">
            <a:avLst/>
          </a:prstGeom>
          <a:solidFill>
            <a:srgbClr val="DDDBD5"/>
          </a:solidFill>
          <a:ln cap="flat" cmpd="sng" w="12700">
            <a:solidFill>
              <a:srgbClr val="DDD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2674635" y="3108223"/>
            <a:ext cx="1554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FC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94E3E"/>
                </a:solidFill>
                <a:latin typeface="Calibri"/>
                <a:ea typeface="Calibri"/>
                <a:cs typeface="Calibri"/>
                <a:sym typeface="Calibri"/>
              </a:rPr>
              <a:t>Mistral42</a:t>
            </a:r>
            <a:endParaRPr b="0" i="0" sz="1100" u="none" cap="none" strike="noStrike">
              <a:solidFill>
                <a:srgbClr val="E94E3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4370847" y="2148103"/>
            <a:ext cx="402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A3F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04594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rgbClr val="10459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4823475" y="1187983"/>
            <a:ext cx="1737300" cy="2286000"/>
          </a:xfrm>
          <a:prstGeom prst="rect">
            <a:avLst/>
          </a:prstGeom>
          <a:solidFill>
            <a:srgbClr val="FDF5E6"/>
          </a:solidFill>
          <a:ln cap="flat" cmpd="sng" w="9525">
            <a:solidFill>
              <a:srgbClr val="1B7B5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4823475" y="1187983"/>
            <a:ext cx="1737300" cy="45600"/>
          </a:xfrm>
          <a:prstGeom prst="rect">
            <a:avLst/>
          </a:prstGeom>
          <a:solidFill>
            <a:srgbClr val="1B7B5A"/>
          </a:solidFill>
          <a:ln cap="flat" cmpd="sng" w="12700">
            <a:solidFill>
              <a:srgbClr val="1B7B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5344683" y="1462303"/>
            <a:ext cx="694800" cy="694800"/>
          </a:xfrm>
          <a:prstGeom prst="ellipse">
            <a:avLst/>
          </a:prstGeom>
          <a:solidFill>
            <a:srgbClr val="E8F6F1"/>
          </a:solidFill>
          <a:ln cap="flat" cmpd="sng" w="12700">
            <a:solidFill>
              <a:srgbClr val="E8F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5344683" y="1462303"/>
            <a:ext cx="6948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4933203" y="1297711"/>
            <a:ext cx="320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B5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B7B5A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4914915" y="2358415"/>
            <a:ext cx="1554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E14"/>
              </a:buClr>
              <a:buSzPts val="1500"/>
              <a:buFont typeface="Georgia"/>
              <a:buNone/>
            </a:pPr>
            <a:r>
              <a:rPr i="0" lang="en-US" sz="1500" u="none" cap="none" strike="noStrike">
                <a:solidFill>
                  <a:srgbClr val="10459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Gestione</a:t>
            </a:r>
            <a:endParaRPr i="0" sz="1500" u="none" cap="none" strike="noStrike">
              <a:solidFill>
                <a:srgbClr val="104594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4914915" y="2651023"/>
            <a:ext cx="1554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3A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A93A8"/>
                </a:solidFill>
                <a:latin typeface="Calibri"/>
                <a:ea typeface="Calibri"/>
                <a:cs typeface="Calibri"/>
                <a:sym typeface="Calibri"/>
              </a:rPr>
              <a:t>operativa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5097795" y="2971063"/>
            <a:ext cx="1188600" cy="11100"/>
          </a:xfrm>
          <a:prstGeom prst="rect">
            <a:avLst/>
          </a:prstGeom>
          <a:solidFill>
            <a:srgbClr val="DDDBD5"/>
          </a:solidFill>
          <a:ln cap="flat" cmpd="sng" w="12700">
            <a:solidFill>
              <a:srgbClr val="DDD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4914915" y="3108223"/>
            <a:ext cx="1554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B5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7B5A"/>
                </a:solidFill>
                <a:latin typeface="Calibri"/>
                <a:ea typeface="Calibri"/>
                <a:cs typeface="Calibri"/>
                <a:sym typeface="Calibri"/>
              </a:rPr>
              <a:t>Azienda-Online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6611127" y="2148103"/>
            <a:ext cx="402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A3F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04594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rgbClr val="10459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7063755" y="1187983"/>
            <a:ext cx="1737300" cy="2286000"/>
          </a:xfrm>
          <a:prstGeom prst="rect">
            <a:avLst/>
          </a:prstGeom>
          <a:solidFill>
            <a:srgbClr val="FDF5E6"/>
          </a:solidFill>
          <a:ln cap="flat" cmpd="sng" w="9525">
            <a:solidFill>
              <a:srgbClr val="D4982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7063755" y="1187983"/>
            <a:ext cx="1737300" cy="45600"/>
          </a:xfrm>
          <a:prstGeom prst="rect">
            <a:avLst/>
          </a:prstGeom>
          <a:solidFill>
            <a:srgbClr val="D4982A"/>
          </a:solidFill>
          <a:ln cap="flat" cmpd="sng" w="12700">
            <a:solidFill>
              <a:srgbClr val="D498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7584963" y="1462303"/>
            <a:ext cx="694800" cy="694800"/>
          </a:xfrm>
          <a:prstGeom prst="ellipse">
            <a:avLst/>
          </a:prstGeom>
          <a:solidFill>
            <a:srgbClr val="FDF5E6"/>
          </a:solidFill>
          <a:ln cap="flat" cmpd="sng" w="12700">
            <a:solidFill>
              <a:srgbClr val="FDF5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7584963" y="1438784"/>
            <a:ext cx="6948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🎯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7173483" y="1297711"/>
            <a:ext cx="320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982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D4982A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7155195" y="2358415"/>
            <a:ext cx="1554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E14"/>
              </a:buClr>
              <a:buSzPts val="1500"/>
              <a:buFont typeface="Georgia"/>
              <a:buNone/>
            </a:pPr>
            <a:r>
              <a:rPr i="0" lang="en-US" sz="1500" u="none" cap="none" strike="noStrike">
                <a:solidFill>
                  <a:srgbClr val="10459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Controllo</a:t>
            </a:r>
            <a:endParaRPr i="0" sz="1500" u="none" cap="none" strike="noStrike">
              <a:solidFill>
                <a:srgbClr val="104594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7155195" y="2651023"/>
            <a:ext cx="1554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3A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A93A8"/>
                </a:solidFill>
                <a:latin typeface="Calibri"/>
                <a:ea typeface="Calibri"/>
                <a:cs typeface="Calibri"/>
                <a:sym typeface="Calibri"/>
              </a:rPr>
              <a:t>strategico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7338075" y="2971063"/>
            <a:ext cx="1188600" cy="11100"/>
          </a:xfrm>
          <a:prstGeom prst="rect">
            <a:avLst/>
          </a:prstGeom>
          <a:solidFill>
            <a:srgbClr val="DDDBD5"/>
          </a:solidFill>
          <a:ln cap="flat" cmpd="sng" w="12700">
            <a:solidFill>
              <a:srgbClr val="DDD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7155195" y="3108223"/>
            <a:ext cx="1554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982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D4982A"/>
                </a:solidFill>
                <a:latin typeface="Calibri"/>
                <a:ea typeface="Calibri"/>
                <a:cs typeface="Calibri"/>
                <a:sym typeface="Calibri"/>
              </a:rPr>
              <a:t>Azienda-Online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457200" y="3840480"/>
            <a:ext cx="8229600" cy="804672"/>
          </a:xfrm>
          <a:prstGeom prst="rect">
            <a:avLst/>
          </a:prstGeom>
          <a:solidFill>
            <a:srgbClr val="104594"/>
          </a:solidFill>
          <a:ln cap="flat" cmpd="sng" w="12700">
            <a:solidFill>
              <a:srgbClr val="6FA3F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162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870175" y="3840475"/>
            <a:ext cx="74037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6F3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FDF5E6"/>
                </a:solidFill>
                <a:latin typeface="Calibri"/>
                <a:ea typeface="Calibri"/>
                <a:cs typeface="Calibri"/>
                <a:sym typeface="Calibri"/>
              </a:rPr>
              <a:t>Ogni soluzione presidia una fase critica. Insieme coprono l'intera catena del valore aziendale.</a:t>
            </a:r>
            <a:endParaRPr b="0" i="0" sz="1300" u="none" cap="none" strike="noStrike">
              <a:solidFill>
                <a:srgbClr val="FDF5E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5E6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A56E8"/>
          </a:solidFill>
          <a:ln cap="flat" cmpd="sng" w="12700">
            <a:solidFill>
              <a:srgbClr val="1A5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1A56E8">
              <a:alpha val="7843"/>
            </a:srgbClr>
          </a:solidFill>
          <a:ln cap="flat" cmpd="sng" w="12700">
            <a:solidFill>
              <a:srgbClr val="1A56E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457200" y="274320"/>
            <a:ext cx="1371600" cy="256032"/>
          </a:xfrm>
          <a:prstGeom prst="rect">
            <a:avLst/>
          </a:prstGeom>
          <a:solidFill>
            <a:srgbClr val="1A56E8"/>
          </a:solidFill>
          <a:ln cap="flat" cmpd="sng" w="12700">
            <a:solidFill>
              <a:srgbClr val="1A5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457200" y="27432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DF5E6"/>
                </a:solidFill>
                <a:latin typeface="Calibri"/>
                <a:ea typeface="Calibri"/>
                <a:cs typeface="Calibri"/>
                <a:sym typeface="Calibri"/>
              </a:rPr>
              <a:t>PARTNER  01</a:t>
            </a:r>
            <a:endParaRPr b="0" i="0" sz="800" u="none" cap="none" strike="noStrike">
              <a:solidFill>
                <a:srgbClr val="FDF5E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457200" y="685800"/>
            <a:ext cx="640080" cy="640080"/>
          </a:xfrm>
          <a:prstGeom prst="rect">
            <a:avLst/>
          </a:prstGeom>
          <a:solidFill>
            <a:srgbClr val="1A56E8"/>
          </a:solidFill>
          <a:ln cap="flat" cmpd="sng" w="12700">
            <a:solidFill>
              <a:srgbClr val="1A5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457200" y="68580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1234440" y="713232"/>
            <a:ext cx="4572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i="0" lang="en-US" sz="3000" u="none" cap="none" strike="noStrike">
                <a:solidFill>
                  <a:srgbClr val="1A56E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Dot Vocal</a:t>
            </a:r>
            <a:endParaRPr i="0" sz="3000" u="none" cap="none" strike="noStrike">
              <a:solidFill>
                <a:srgbClr val="1A56E8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1234440" y="107899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3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A93A8"/>
                </a:solidFill>
                <a:latin typeface="Calibri"/>
                <a:ea typeface="Calibri"/>
                <a:cs typeface="Calibri"/>
                <a:sym typeface="Calibri"/>
              </a:rPr>
              <a:t>dotvocal.com  ·  Genova </a:t>
            </a:r>
            <a:r>
              <a:rPr lang="en-US" sz="1000">
                <a:solidFill>
                  <a:srgbClr val="8A93A8"/>
                </a:solidFill>
                <a:latin typeface="Calibri"/>
                <a:ea typeface="Calibri"/>
                <a:cs typeface="Calibri"/>
                <a:sym typeface="Calibri"/>
              </a:rPr>
              <a:t>· </a:t>
            </a:r>
            <a:r>
              <a:rPr b="0" i="0" lang="en-US" sz="1000" u="none" cap="none" strike="noStrike">
                <a:solidFill>
                  <a:srgbClr val="8A93A8"/>
                </a:solidFill>
                <a:latin typeface="Calibri"/>
                <a:ea typeface="Calibri"/>
                <a:cs typeface="Calibri"/>
                <a:sym typeface="Calibri"/>
              </a:rPr>
              <a:t>Suite AI per l'interazione</a:t>
            </a:r>
            <a:endParaRPr b="0" i="0" sz="1000" u="none" cap="none" strike="noStrike">
              <a:solidFill>
                <a:srgbClr val="8A93A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457200" y="1508760"/>
            <a:ext cx="45720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C8D0E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A4050"/>
                </a:solidFill>
                <a:latin typeface="Calibri"/>
                <a:ea typeface="Calibri"/>
                <a:cs typeface="Calibri"/>
                <a:sym typeface="Calibri"/>
              </a:rPr>
              <a:t>Suite AI per la gestione multicanale dell'interazione con utenti e clienti. Assistenti virtuali intelligenti, gestione ticket automatizzata e workflow conversazionali complessi grazie all'AI generativa.</a:t>
            </a:r>
            <a:endParaRPr b="0" i="0" sz="1250" u="none" cap="none" strike="noStrike">
              <a:solidFill>
                <a:srgbClr val="3A4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457200" y="2514600"/>
            <a:ext cx="2148840" cy="274320"/>
          </a:xfrm>
          <a:prstGeom prst="rect">
            <a:avLst/>
          </a:prstGeom>
          <a:solidFill>
            <a:srgbClr val="1E2330"/>
          </a:solidFill>
          <a:ln cap="flat" cmpd="sng" w="12700">
            <a:solidFill>
              <a:srgbClr val="2A2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457200" y="2514600"/>
            <a:ext cx="2148840" cy="274320"/>
          </a:xfrm>
          <a:prstGeom prst="rect">
            <a:avLst/>
          </a:prstGeom>
          <a:solidFill>
            <a:srgbClr val="6FA3F8"/>
          </a:solidFill>
          <a:ln cap="flat" cmpd="sng" w="9525">
            <a:solidFill>
              <a:srgbClr val="6FA3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A3F8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FDF5E6"/>
                </a:solidFill>
                <a:latin typeface="Calibri"/>
                <a:ea typeface="Calibri"/>
                <a:cs typeface="Calibri"/>
                <a:sym typeface="Calibri"/>
              </a:rPr>
              <a:t>Assistente Virtuale AI</a:t>
            </a:r>
            <a:endParaRPr b="0" i="0" sz="1100" u="none" cap="none" strike="noStrike">
              <a:solidFill>
                <a:srgbClr val="FDF5E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2788920" y="2514600"/>
            <a:ext cx="2148840" cy="274320"/>
          </a:xfrm>
          <a:prstGeom prst="rect">
            <a:avLst/>
          </a:prstGeom>
          <a:solidFill>
            <a:srgbClr val="1E2330"/>
          </a:solidFill>
          <a:ln cap="flat" cmpd="sng" w="12700">
            <a:solidFill>
              <a:srgbClr val="2A2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2788920" y="2514600"/>
            <a:ext cx="2148840" cy="274320"/>
          </a:xfrm>
          <a:prstGeom prst="rect">
            <a:avLst/>
          </a:prstGeom>
          <a:solidFill>
            <a:srgbClr val="6FA3F8"/>
          </a:solidFill>
          <a:ln cap="flat" cmpd="sng" w="9525">
            <a:solidFill>
              <a:srgbClr val="6FA3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A3F8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FDF5E6"/>
                </a:solidFill>
                <a:latin typeface="Calibri"/>
                <a:ea typeface="Calibri"/>
                <a:cs typeface="Calibri"/>
                <a:sym typeface="Calibri"/>
              </a:rPr>
              <a:t>Gestione ticket</a:t>
            </a:r>
            <a:endParaRPr b="0" i="0" sz="1100" u="none" cap="none" strike="noStrike">
              <a:solidFill>
                <a:srgbClr val="FDF5E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457200" y="2862072"/>
            <a:ext cx="2148840" cy="274320"/>
          </a:xfrm>
          <a:prstGeom prst="rect">
            <a:avLst/>
          </a:prstGeom>
          <a:solidFill>
            <a:srgbClr val="1E2330"/>
          </a:solidFill>
          <a:ln cap="flat" cmpd="sng" w="12700">
            <a:solidFill>
              <a:srgbClr val="2A2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457200" y="2862072"/>
            <a:ext cx="2148840" cy="274320"/>
          </a:xfrm>
          <a:prstGeom prst="rect">
            <a:avLst/>
          </a:prstGeom>
          <a:solidFill>
            <a:srgbClr val="6FA3F8"/>
          </a:solidFill>
          <a:ln cap="flat" cmpd="sng" w="9525">
            <a:solidFill>
              <a:srgbClr val="6FA3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A3F8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FDF5E6"/>
                </a:solidFill>
                <a:latin typeface="Calibri"/>
                <a:ea typeface="Calibri"/>
                <a:cs typeface="Calibri"/>
                <a:sym typeface="Calibri"/>
              </a:rPr>
              <a:t>Workflow AI</a:t>
            </a:r>
            <a:endParaRPr b="0" i="0" sz="1100" u="none" cap="none" strike="noStrike">
              <a:solidFill>
                <a:srgbClr val="FDF5E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2788920" y="2862072"/>
            <a:ext cx="2148840" cy="274320"/>
          </a:xfrm>
          <a:prstGeom prst="rect">
            <a:avLst/>
          </a:prstGeom>
          <a:solidFill>
            <a:srgbClr val="1E2330"/>
          </a:solidFill>
          <a:ln cap="flat" cmpd="sng" w="12700">
            <a:solidFill>
              <a:srgbClr val="2A2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2788920" y="2862072"/>
            <a:ext cx="2148840" cy="274320"/>
          </a:xfrm>
          <a:prstGeom prst="rect">
            <a:avLst/>
          </a:prstGeom>
          <a:solidFill>
            <a:srgbClr val="6FA3F8"/>
          </a:solidFill>
          <a:ln cap="flat" cmpd="sng" w="9525">
            <a:solidFill>
              <a:srgbClr val="6FA3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A3F8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FDF5E6"/>
                </a:solidFill>
                <a:latin typeface="Calibri"/>
                <a:ea typeface="Calibri"/>
                <a:cs typeface="Calibri"/>
                <a:sym typeface="Calibri"/>
              </a:rPr>
              <a:t>Omnichannel</a:t>
            </a:r>
            <a:endParaRPr b="0" i="0" sz="1100" u="none" cap="none" strike="noStrike">
              <a:solidFill>
                <a:srgbClr val="FDF5E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5120640" y="685800"/>
            <a:ext cx="3657600" cy="3337560"/>
          </a:xfrm>
          <a:prstGeom prst="rect">
            <a:avLst/>
          </a:prstGeom>
          <a:solidFill>
            <a:srgbClr val="1A56E8"/>
          </a:solidFill>
          <a:ln cap="flat" cmpd="sng" w="12700">
            <a:solidFill>
              <a:srgbClr val="1A5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5303520" y="82296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A3F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FA3F8"/>
                </a:solidFill>
                <a:latin typeface="Calibri"/>
                <a:ea typeface="Calibri"/>
                <a:cs typeface="Calibri"/>
                <a:sym typeface="Calibri"/>
              </a:rPr>
              <a:t>Benefici chiave</a:t>
            </a:r>
            <a:endParaRPr b="0" i="0" sz="1000" u="none" cap="none" strike="noStrike">
              <a:solidFill>
                <a:srgbClr val="6FA3F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5303520" y="1234440"/>
            <a:ext cx="36576" cy="502920"/>
          </a:xfrm>
          <a:prstGeom prst="rect">
            <a:avLst/>
          </a:prstGeom>
          <a:solidFill>
            <a:srgbClr val="6FA3F8"/>
          </a:solidFill>
          <a:ln cap="flat" cmpd="sng" w="12700">
            <a:solidFill>
              <a:srgbClr val="6FA3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5468112" y="1207008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7F6F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DF5E6"/>
                </a:solidFill>
                <a:latin typeface="Calibri"/>
                <a:ea typeface="Calibri"/>
                <a:cs typeface="Calibri"/>
                <a:sym typeface="Calibri"/>
              </a:rPr>
              <a:t>Riduce il carico del team su richieste ripetitive</a:t>
            </a:r>
            <a:endParaRPr b="0" i="0" sz="1150" u="none" cap="none" strike="noStrike">
              <a:solidFill>
                <a:srgbClr val="FDF5E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5303520" y="2039112"/>
            <a:ext cx="36576" cy="502920"/>
          </a:xfrm>
          <a:prstGeom prst="rect">
            <a:avLst/>
          </a:prstGeom>
          <a:solidFill>
            <a:srgbClr val="6FA3F8"/>
          </a:solidFill>
          <a:ln cap="flat" cmpd="sng" w="12700">
            <a:solidFill>
              <a:srgbClr val="6FA3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5468112" y="2011680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7F6F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DF5E6"/>
                </a:solidFill>
                <a:latin typeface="Calibri"/>
                <a:ea typeface="Calibri"/>
                <a:cs typeface="Calibri"/>
                <a:sym typeface="Calibri"/>
              </a:rPr>
              <a:t>Disponibilità H24 su tutti i canali di contatto</a:t>
            </a:r>
            <a:endParaRPr b="0" i="0" sz="1150" u="none" cap="none" strike="noStrike">
              <a:solidFill>
                <a:srgbClr val="FDF5E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5303520" y="2843784"/>
            <a:ext cx="36576" cy="502920"/>
          </a:xfrm>
          <a:prstGeom prst="rect">
            <a:avLst/>
          </a:prstGeom>
          <a:solidFill>
            <a:srgbClr val="6FA3F8"/>
          </a:solidFill>
          <a:ln cap="flat" cmpd="sng" w="12700">
            <a:solidFill>
              <a:srgbClr val="6FA3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5468100" y="2816350"/>
            <a:ext cx="32187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7F6F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DF5E6"/>
                </a:solidFill>
                <a:latin typeface="Calibri"/>
                <a:ea typeface="Calibri"/>
                <a:cs typeface="Calibri"/>
                <a:sym typeface="Calibri"/>
              </a:rPr>
              <a:t>Integrazione nativa con CRM e sistemi gestionali</a:t>
            </a:r>
            <a:endParaRPr b="0" i="0" sz="1150" u="none" cap="none" strike="noStrike">
              <a:solidFill>
                <a:srgbClr val="FDF5E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0" y="4229096"/>
            <a:ext cx="9144000" cy="914400"/>
          </a:xfrm>
          <a:prstGeom prst="rect">
            <a:avLst/>
          </a:prstGeom>
          <a:solidFill>
            <a:srgbClr val="1A56E8"/>
          </a:solidFill>
          <a:ln cap="flat" cmpd="sng" w="12700">
            <a:solidFill>
              <a:srgbClr val="1A5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457200" y="4206375"/>
            <a:ext cx="8229600" cy="9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0" i="1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« Manteniamo il tuo business al passo con il futuro »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" name="Google Shape;113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3066" y="790937"/>
            <a:ext cx="448345" cy="42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5E6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94E3E"/>
          </a:solidFill>
          <a:ln cap="flat" cmpd="sng" w="12700">
            <a:solidFill>
              <a:srgbClr val="E94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5B3FC2">
              <a:alpha val="7843"/>
            </a:srgbClr>
          </a:solidFill>
          <a:ln cap="flat" cmpd="sng" w="12700">
            <a:solidFill>
              <a:srgbClr val="5B3FC2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457200" y="274320"/>
            <a:ext cx="1371600" cy="256032"/>
          </a:xfrm>
          <a:prstGeom prst="rect">
            <a:avLst/>
          </a:prstGeom>
          <a:solidFill>
            <a:srgbClr val="5B3FC2"/>
          </a:solidFill>
          <a:ln cap="flat" cmpd="sng" w="12700">
            <a:solidFill>
              <a:srgbClr val="5B3F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457200" y="274320"/>
            <a:ext cx="1371600" cy="256032"/>
          </a:xfrm>
          <a:prstGeom prst="rect">
            <a:avLst/>
          </a:prstGeom>
          <a:solidFill>
            <a:srgbClr val="E94E3E"/>
          </a:solidFill>
          <a:ln cap="flat" cmpd="sng" w="9525">
            <a:solidFill>
              <a:srgbClr val="E94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DF5E6"/>
                </a:solidFill>
                <a:latin typeface="Calibri"/>
                <a:ea typeface="Calibri"/>
                <a:cs typeface="Calibri"/>
                <a:sym typeface="Calibri"/>
              </a:rPr>
              <a:t>PARTNER  02</a:t>
            </a:r>
            <a:endParaRPr b="0" i="0" sz="800" u="none" cap="none" strike="noStrike">
              <a:solidFill>
                <a:srgbClr val="FDF5E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457200" y="685800"/>
            <a:ext cx="640080" cy="640080"/>
          </a:xfrm>
          <a:prstGeom prst="rect">
            <a:avLst/>
          </a:prstGeom>
          <a:solidFill>
            <a:srgbClr val="E94E3E"/>
          </a:solidFill>
          <a:ln cap="flat" cmpd="sng" w="12700">
            <a:solidFill>
              <a:srgbClr val="E94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525838" y="754438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1234440" y="713232"/>
            <a:ext cx="4572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i="0" lang="en-US" sz="3000" u="none" cap="none" strike="noStrike">
                <a:solidFill>
                  <a:srgbClr val="E94E3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Mistral42</a:t>
            </a:r>
            <a:endParaRPr i="0" sz="3000" u="none" cap="none" strike="noStrike">
              <a:solidFill>
                <a:srgbClr val="E94E3E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1234440" y="107899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3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A93A8"/>
                </a:solidFill>
                <a:latin typeface="Calibri"/>
                <a:ea typeface="Calibri"/>
                <a:cs typeface="Calibri"/>
                <a:sym typeface="Calibri"/>
              </a:rPr>
              <a:t>Mistral Digital Solutions  ·  mistralsolutions.it  ·  Genova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457200" y="1508760"/>
            <a:ext cx="45720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C8D0E0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3A4050"/>
                </a:solidFill>
                <a:latin typeface="Calibri"/>
                <a:ea typeface="Calibri"/>
                <a:cs typeface="Calibri"/>
                <a:sym typeface="Calibri"/>
              </a:rPr>
              <a:t>Soluzione AI per l'accesso intelligente alla conoscenza aziendale. Interroga documenti interni, esegui ricerche avanzate e genera nuovi contenuti a partire dal patrimonio documentale esistente.</a:t>
            </a:r>
            <a:endParaRPr b="0" i="0" sz="1250" u="none" cap="none" strike="noStrike">
              <a:solidFill>
                <a:srgbClr val="3A4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457200" y="2514600"/>
            <a:ext cx="2148840" cy="274320"/>
          </a:xfrm>
          <a:prstGeom prst="rect">
            <a:avLst/>
          </a:prstGeom>
          <a:solidFill>
            <a:srgbClr val="EAB3B0"/>
          </a:solidFill>
          <a:ln cap="flat" cmpd="sng" w="12700">
            <a:solidFill>
              <a:srgbClr val="EAB3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804725" y="2514600"/>
            <a:ext cx="1453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7EF0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E94E3E"/>
                </a:solidFill>
                <a:latin typeface="Calibri"/>
                <a:ea typeface="Calibri"/>
                <a:cs typeface="Calibri"/>
                <a:sym typeface="Calibri"/>
              </a:rPr>
              <a:t>Knowledge base AI</a:t>
            </a:r>
            <a:endParaRPr b="0" i="0" sz="1100" u="none" cap="none" strike="noStrike">
              <a:solidFill>
                <a:srgbClr val="E94E3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2788920" y="2514600"/>
            <a:ext cx="2148840" cy="274320"/>
          </a:xfrm>
          <a:prstGeom prst="rect">
            <a:avLst/>
          </a:prstGeom>
          <a:solidFill>
            <a:srgbClr val="EAB3B0"/>
          </a:solidFill>
          <a:ln cap="flat" cmpd="sng" w="12700">
            <a:solidFill>
              <a:srgbClr val="EAB3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457200" y="2862072"/>
            <a:ext cx="2148840" cy="274320"/>
          </a:xfrm>
          <a:prstGeom prst="rect">
            <a:avLst/>
          </a:prstGeom>
          <a:solidFill>
            <a:srgbClr val="EAB3B0"/>
          </a:solidFill>
          <a:ln cap="flat" cmpd="sng" w="12700">
            <a:solidFill>
              <a:srgbClr val="EAB3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2788920" y="2862072"/>
            <a:ext cx="2148840" cy="274320"/>
          </a:xfrm>
          <a:prstGeom prst="rect">
            <a:avLst/>
          </a:prstGeom>
          <a:solidFill>
            <a:srgbClr val="EAB3B0"/>
          </a:solidFill>
          <a:ln cap="flat" cmpd="sng" w="12700">
            <a:solidFill>
              <a:srgbClr val="EAB3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554075" y="2862075"/>
            <a:ext cx="1955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7EF0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E94E3E"/>
                </a:solidFill>
                <a:latin typeface="Calibri"/>
                <a:ea typeface="Calibri"/>
                <a:cs typeface="Calibri"/>
                <a:sym typeface="Calibri"/>
              </a:rPr>
              <a:t>Generazione documenti</a:t>
            </a:r>
            <a:endParaRPr b="0" i="0" sz="1100" u="none" cap="none" strike="noStrike">
              <a:solidFill>
                <a:srgbClr val="E94E3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3254923" y="2514600"/>
            <a:ext cx="1216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7EF0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E94E3E"/>
                </a:solidFill>
                <a:latin typeface="Calibri"/>
                <a:ea typeface="Calibri"/>
                <a:cs typeface="Calibri"/>
                <a:sym typeface="Calibri"/>
              </a:rPr>
              <a:t>Ricerca semantica</a:t>
            </a:r>
            <a:endParaRPr b="0" i="0" sz="1100" u="none" cap="none" strike="noStrike">
              <a:solidFill>
                <a:srgbClr val="E94E3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3254923" y="2862075"/>
            <a:ext cx="1216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7EF0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E94E3E"/>
                </a:solidFill>
                <a:latin typeface="Calibri"/>
                <a:ea typeface="Calibri"/>
                <a:cs typeface="Calibri"/>
                <a:sym typeface="Calibri"/>
              </a:rPr>
              <a:t>Analisi fatture</a:t>
            </a:r>
            <a:endParaRPr b="0" i="0" sz="1100" u="none" cap="none" strike="noStrike">
              <a:solidFill>
                <a:srgbClr val="E94E3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5120640" y="685800"/>
            <a:ext cx="3657600" cy="3337560"/>
          </a:xfrm>
          <a:prstGeom prst="rect">
            <a:avLst/>
          </a:prstGeom>
          <a:solidFill>
            <a:srgbClr val="E94E3E"/>
          </a:solidFill>
          <a:ln cap="flat" cmpd="sng" w="12700">
            <a:solidFill>
              <a:srgbClr val="E94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5303520" y="82296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7EF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AB3B0"/>
                </a:solidFill>
                <a:latin typeface="Calibri"/>
                <a:ea typeface="Calibri"/>
                <a:cs typeface="Calibri"/>
                <a:sym typeface="Calibri"/>
              </a:rPr>
              <a:t>Benefici chiave</a:t>
            </a:r>
            <a:endParaRPr b="0" i="0" sz="1000" u="none" cap="none" strike="noStrike">
              <a:solidFill>
                <a:srgbClr val="EAB3B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5303520" y="1234440"/>
            <a:ext cx="36576" cy="502920"/>
          </a:xfrm>
          <a:prstGeom prst="rect">
            <a:avLst/>
          </a:prstGeom>
          <a:solidFill>
            <a:srgbClr val="EAB3B0"/>
          </a:solidFill>
          <a:ln cap="flat" cmpd="sng" w="12700">
            <a:solidFill>
              <a:srgbClr val="EAB3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5468112" y="1207008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7F6F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DF5E6"/>
                </a:solidFill>
                <a:latin typeface="Calibri"/>
                <a:ea typeface="Calibri"/>
                <a:cs typeface="Calibri"/>
                <a:sym typeface="Calibri"/>
              </a:rPr>
              <a:t>Elimina il tempo perso cercando informazioni</a:t>
            </a:r>
            <a:endParaRPr b="0" i="0" sz="1150" u="none" cap="none" strike="noStrike">
              <a:solidFill>
                <a:srgbClr val="FDF5E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5303520" y="2039112"/>
            <a:ext cx="36576" cy="502920"/>
          </a:xfrm>
          <a:prstGeom prst="rect">
            <a:avLst/>
          </a:prstGeom>
          <a:solidFill>
            <a:srgbClr val="EAB3B0"/>
          </a:solidFill>
          <a:ln cap="flat" cmpd="sng" w="12700">
            <a:solidFill>
              <a:srgbClr val="EAB3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5468112" y="2011680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7F6F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DF5E6"/>
                </a:solidFill>
                <a:latin typeface="Calibri"/>
                <a:ea typeface="Calibri"/>
                <a:cs typeface="Calibri"/>
                <a:sym typeface="Calibri"/>
              </a:rPr>
              <a:t>Automatizza analisi e categorizzazione file .doc</a:t>
            </a:r>
            <a:endParaRPr b="0" i="0" sz="1150" u="none" cap="none" strike="noStrike">
              <a:solidFill>
                <a:srgbClr val="FDF5E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5303520" y="2843784"/>
            <a:ext cx="36576" cy="502920"/>
          </a:xfrm>
          <a:prstGeom prst="rect">
            <a:avLst/>
          </a:prstGeom>
          <a:solidFill>
            <a:srgbClr val="EAB3B0"/>
          </a:solidFill>
          <a:ln cap="flat" cmpd="sng" w="12700">
            <a:solidFill>
              <a:srgbClr val="EAB3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5468112" y="2816352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7F6F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DF5E6"/>
                </a:solidFill>
                <a:latin typeface="Calibri"/>
                <a:ea typeface="Calibri"/>
                <a:cs typeface="Calibri"/>
                <a:sym typeface="Calibri"/>
              </a:rPr>
              <a:t>Crea nuovi documenti dalla conoscenza interna</a:t>
            </a:r>
            <a:endParaRPr b="0" i="0" sz="1150" u="none" cap="none" strike="noStrike">
              <a:solidFill>
                <a:srgbClr val="FDF5E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0" y="4229090"/>
            <a:ext cx="9144000" cy="914400"/>
          </a:xfrm>
          <a:prstGeom prst="rect">
            <a:avLst/>
          </a:prstGeom>
          <a:solidFill>
            <a:srgbClr val="E94E3E"/>
          </a:solidFill>
          <a:ln cap="flat" cmpd="sng" w="12700">
            <a:solidFill>
              <a:srgbClr val="E94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457200" y="422909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0" i="1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« Accedi alla conoscenza della tua azienda in linguaggio naturale »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" name="Google Shape;146;p4" title="Mistral - Logomark Whit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591" y="713225"/>
            <a:ext cx="585343" cy="58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5E6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B7B5A"/>
          </a:solidFill>
          <a:ln cap="flat" cmpd="sng" w="12700">
            <a:solidFill>
              <a:srgbClr val="1B7B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1B7B5A">
              <a:alpha val="7843"/>
            </a:srgbClr>
          </a:solidFill>
          <a:ln cap="flat" cmpd="sng" w="12700">
            <a:solidFill>
              <a:srgbClr val="1B7B5A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457200" y="274320"/>
            <a:ext cx="1371600" cy="256032"/>
          </a:xfrm>
          <a:prstGeom prst="rect">
            <a:avLst/>
          </a:prstGeom>
          <a:solidFill>
            <a:srgbClr val="1B7B5A"/>
          </a:solidFill>
          <a:ln cap="flat" cmpd="sng" w="12700">
            <a:solidFill>
              <a:srgbClr val="1B7B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457200" y="274320"/>
            <a:ext cx="1371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DF5E6"/>
                </a:solidFill>
                <a:latin typeface="Calibri"/>
                <a:ea typeface="Calibri"/>
                <a:cs typeface="Calibri"/>
                <a:sym typeface="Calibri"/>
              </a:rPr>
              <a:t>PARTNER  03</a:t>
            </a:r>
            <a:endParaRPr b="0" i="0" sz="800" u="none" cap="none" strike="noStrike">
              <a:solidFill>
                <a:srgbClr val="FDF5E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457200" y="685800"/>
            <a:ext cx="640080" cy="640080"/>
          </a:xfrm>
          <a:prstGeom prst="rect">
            <a:avLst/>
          </a:prstGeom>
          <a:solidFill>
            <a:srgbClr val="1B7B5A"/>
          </a:solidFill>
          <a:ln cap="flat" cmpd="sng" w="12700">
            <a:solidFill>
              <a:srgbClr val="1B7B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457200" y="68580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1234440" y="713232"/>
            <a:ext cx="4572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i="0" lang="en-US" sz="2800" u="none" cap="none" strike="noStrike">
                <a:solidFill>
                  <a:srgbClr val="1B7B5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Azienda-Online</a:t>
            </a:r>
            <a:endParaRPr i="0" sz="2800" u="none" cap="none" strike="noStrike">
              <a:solidFill>
                <a:srgbClr val="1B7B5A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1234440" y="109728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3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A93A8"/>
                </a:solidFill>
                <a:latin typeface="Calibri"/>
                <a:ea typeface="Calibri"/>
                <a:cs typeface="Calibri"/>
                <a:sym typeface="Calibri"/>
              </a:rPr>
              <a:t>10xlab  ·  azienda-online.</a:t>
            </a:r>
            <a:r>
              <a:rPr lang="en-US" sz="1000">
                <a:solidFill>
                  <a:srgbClr val="8A93A8"/>
                </a:solidFill>
                <a:latin typeface="Calibri"/>
                <a:ea typeface="Calibri"/>
                <a:cs typeface="Calibri"/>
                <a:sym typeface="Calibri"/>
              </a:rPr>
              <a:t>com</a:t>
            </a:r>
            <a:r>
              <a:rPr b="0" i="0" lang="en-US" sz="1000" u="none" cap="none" strike="noStrike">
                <a:solidFill>
                  <a:srgbClr val="8A93A8"/>
                </a:solidFill>
                <a:latin typeface="Calibri"/>
                <a:ea typeface="Calibri"/>
                <a:cs typeface="Calibri"/>
                <a:sym typeface="Calibri"/>
              </a:rPr>
              <a:t>  ·  Genova  ·  ERP in cloud dal 2004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457200" y="1508760"/>
            <a:ext cx="45720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C8D0E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A4050"/>
                </a:solidFill>
                <a:latin typeface="Calibri"/>
                <a:ea typeface="Calibri"/>
                <a:cs typeface="Calibri"/>
                <a:sym typeface="Calibri"/>
              </a:rPr>
              <a:t>ERP gestionale SaaS completamente in cloud. Raccoglie e trasmette in tempo reale tutti i dati operativi: fatturazione elettronica, contabilità, magazzino, commesse e tracciamento attività.</a:t>
            </a:r>
            <a:endParaRPr b="0" i="0" sz="1250" u="none" cap="none" strike="noStrike">
              <a:solidFill>
                <a:srgbClr val="3A4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457200" y="2514600"/>
            <a:ext cx="2148840" cy="274320"/>
          </a:xfrm>
          <a:prstGeom prst="rect">
            <a:avLst/>
          </a:prstGeom>
          <a:solidFill>
            <a:srgbClr val="27AE7A"/>
          </a:solidFill>
          <a:ln cap="flat" cmpd="sng" w="12700">
            <a:solidFill>
              <a:srgbClr val="27AE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845823" y="2514600"/>
            <a:ext cx="1371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AE7A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FDF5E6"/>
                </a:solidFill>
                <a:latin typeface="Calibri"/>
                <a:ea typeface="Calibri"/>
                <a:cs typeface="Calibri"/>
                <a:sym typeface="Calibri"/>
              </a:rPr>
              <a:t>ERP Cloud SaaS</a:t>
            </a:r>
            <a:endParaRPr b="0" i="0" sz="1100" u="none" cap="none" strike="noStrike">
              <a:solidFill>
                <a:srgbClr val="FDF5E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2788920" y="2514600"/>
            <a:ext cx="2148840" cy="274320"/>
          </a:xfrm>
          <a:prstGeom prst="rect">
            <a:avLst/>
          </a:prstGeom>
          <a:solidFill>
            <a:srgbClr val="27AE7A"/>
          </a:solidFill>
          <a:ln cap="flat" cmpd="sng" w="12700">
            <a:solidFill>
              <a:srgbClr val="27AE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2943792" y="2514600"/>
            <a:ext cx="1839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AE7A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FDF5E6"/>
                </a:solidFill>
                <a:latin typeface="Calibri"/>
                <a:ea typeface="Calibri"/>
                <a:cs typeface="Calibri"/>
                <a:sym typeface="Calibri"/>
              </a:rPr>
              <a:t>Fatturazione elettronica</a:t>
            </a:r>
            <a:endParaRPr b="0" i="0" sz="1100" u="none" cap="none" strike="noStrike">
              <a:solidFill>
                <a:srgbClr val="FDF5E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457200" y="2862072"/>
            <a:ext cx="2148840" cy="274320"/>
          </a:xfrm>
          <a:prstGeom prst="rect">
            <a:avLst/>
          </a:prstGeom>
          <a:solidFill>
            <a:srgbClr val="27AE7A"/>
          </a:solidFill>
          <a:ln cap="flat" cmpd="sng" w="12700">
            <a:solidFill>
              <a:srgbClr val="27AE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640100" y="2862075"/>
            <a:ext cx="1782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AE7A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FDF5E6"/>
                </a:solidFill>
                <a:latin typeface="Calibri"/>
                <a:ea typeface="Calibri"/>
                <a:cs typeface="Calibri"/>
                <a:sym typeface="Calibri"/>
              </a:rPr>
              <a:t>Magazzino &amp; commesse</a:t>
            </a:r>
            <a:endParaRPr b="0" i="0" sz="1100" u="none" cap="none" strike="noStrike">
              <a:solidFill>
                <a:srgbClr val="FDF5E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2788920" y="2862072"/>
            <a:ext cx="2148840" cy="274320"/>
          </a:xfrm>
          <a:prstGeom prst="rect">
            <a:avLst/>
          </a:prstGeom>
          <a:solidFill>
            <a:srgbClr val="27AE7A"/>
          </a:solidFill>
          <a:ln cap="flat" cmpd="sng" w="12700">
            <a:solidFill>
              <a:srgbClr val="27AE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3198413" y="2862076"/>
            <a:ext cx="1329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AE7A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FDF5E6"/>
                </a:solidFill>
                <a:latin typeface="Calibri"/>
                <a:ea typeface="Calibri"/>
                <a:cs typeface="Calibri"/>
                <a:sym typeface="Calibri"/>
              </a:rPr>
              <a:t>App Task mobile</a:t>
            </a:r>
            <a:endParaRPr b="0" i="0" sz="1100" u="none" cap="none" strike="noStrike">
              <a:solidFill>
                <a:srgbClr val="FDF5E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5120640" y="685800"/>
            <a:ext cx="3657600" cy="3337560"/>
          </a:xfrm>
          <a:prstGeom prst="rect">
            <a:avLst/>
          </a:prstGeom>
          <a:solidFill>
            <a:srgbClr val="1B7B5A"/>
          </a:solidFill>
          <a:ln cap="flat" cmpd="sng" w="12700">
            <a:solidFill>
              <a:srgbClr val="1B7B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5303520" y="82296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AE7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7AE7A"/>
                </a:solidFill>
                <a:latin typeface="Calibri"/>
                <a:ea typeface="Calibri"/>
                <a:cs typeface="Calibri"/>
                <a:sym typeface="Calibri"/>
              </a:rPr>
              <a:t>Benefici chiave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5303520" y="1234440"/>
            <a:ext cx="36576" cy="502920"/>
          </a:xfrm>
          <a:prstGeom prst="rect">
            <a:avLst/>
          </a:prstGeom>
          <a:solidFill>
            <a:srgbClr val="27AE7A"/>
          </a:solidFill>
          <a:ln cap="flat" cmpd="sng" w="12700">
            <a:solidFill>
              <a:srgbClr val="27AE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5468099" y="1207000"/>
            <a:ext cx="32919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7F6F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7F6F3"/>
                </a:solidFill>
                <a:latin typeface="Calibri"/>
                <a:ea typeface="Calibri"/>
                <a:cs typeface="Calibri"/>
                <a:sym typeface="Calibri"/>
              </a:rPr>
              <a:t>Dati aggiornati in tempo reale, accessibili ovunque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5303520" y="2039112"/>
            <a:ext cx="36576" cy="502920"/>
          </a:xfrm>
          <a:prstGeom prst="rect">
            <a:avLst/>
          </a:prstGeom>
          <a:solidFill>
            <a:srgbClr val="27AE7A"/>
          </a:solidFill>
          <a:ln cap="flat" cmpd="sng" w="12700">
            <a:solidFill>
              <a:srgbClr val="27AE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5468099" y="2011675"/>
            <a:ext cx="32187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7F6F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7F6F3"/>
                </a:solidFill>
                <a:latin typeface="Calibri"/>
                <a:ea typeface="Calibri"/>
                <a:cs typeface="Calibri"/>
                <a:sym typeface="Calibri"/>
              </a:rPr>
              <a:t>Gestione completa dal ciclo attivo a quello passivo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5303520" y="2843784"/>
            <a:ext cx="36576" cy="502920"/>
          </a:xfrm>
          <a:prstGeom prst="rect">
            <a:avLst/>
          </a:prstGeom>
          <a:solidFill>
            <a:srgbClr val="27AE7A"/>
          </a:solidFill>
          <a:ln cap="flat" cmpd="sng" w="12700">
            <a:solidFill>
              <a:srgbClr val="27AE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5468112" y="2816352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7F6F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7F6F3"/>
                </a:solidFill>
                <a:latin typeface="Calibri"/>
                <a:ea typeface="Calibri"/>
                <a:cs typeface="Calibri"/>
                <a:sym typeface="Calibri"/>
              </a:rPr>
              <a:t>Integrazione nativa con e-commerce B2B e B2C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0" y="4229090"/>
            <a:ext cx="9144000" cy="914400"/>
          </a:xfrm>
          <a:prstGeom prst="rect">
            <a:avLst/>
          </a:prstGeom>
          <a:solidFill>
            <a:srgbClr val="1B7B5A"/>
          </a:solidFill>
          <a:ln cap="flat" cmpd="sng" w="12700">
            <a:solidFill>
              <a:srgbClr val="1B7B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457200" y="422909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eorgia"/>
              <a:buNone/>
            </a:pPr>
            <a:r>
              <a:rPr b="0" i="1" lang="en-US" sz="1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« La plancia di controllo della tua azienda, sempre disponibile nel cloud »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9" name="Google Shape;179;p5" title="AOL - Logomark Whit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9760" y="833652"/>
            <a:ext cx="554956" cy="34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5E6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"/>
          <p:cNvSpPr/>
          <p:nvPr/>
        </p:nvSpPr>
        <p:spPr>
          <a:xfrm>
            <a:off x="457200" y="274320"/>
            <a:ext cx="1371600" cy="255900"/>
          </a:xfrm>
          <a:prstGeom prst="rect">
            <a:avLst/>
          </a:prstGeom>
          <a:solidFill>
            <a:srgbClr val="D4982B"/>
          </a:solidFill>
          <a:ln cap="flat" cmpd="sng" w="12700">
            <a:solidFill>
              <a:srgbClr val="D498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4982A"/>
          </a:solidFill>
          <a:ln cap="flat" cmpd="sng" w="12700">
            <a:solidFill>
              <a:srgbClr val="D498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D4982A">
              <a:alpha val="7843"/>
            </a:srgbClr>
          </a:solidFill>
          <a:ln cap="flat" cmpd="sng" w="12700">
            <a:solidFill>
              <a:srgbClr val="D4982A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457200" y="685800"/>
            <a:ext cx="640080" cy="640080"/>
          </a:xfrm>
          <a:prstGeom prst="rect">
            <a:avLst/>
          </a:prstGeom>
          <a:solidFill>
            <a:srgbClr val="D4982A"/>
          </a:solidFill>
          <a:ln cap="flat" cmpd="sng" w="12700">
            <a:solidFill>
              <a:srgbClr val="D498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457200" y="68580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1234440" y="713232"/>
            <a:ext cx="5029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i="0" lang="en-US" sz="2600" u="none" cap="none" strike="noStrike">
                <a:solidFill>
                  <a:srgbClr val="D498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Cruscotto</a:t>
            </a:r>
            <a:endParaRPr i="0" sz="2600" u="none" cap="none" strike="noStrike">
              <a:solidFill>
                <a:srgbClr val="D4982A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1234440" y="109728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A93A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A93A8"/>
                </a:solidFill>
                <a:latin typeface="Calibri"/>
                <a:ea typeface="Calibri"/>
                <a:cs typeface="Calibri"/>
                <a:sym typeface="Calibri"/>
              </a:rPr>
              <a:t>10xlab  ·  azienda-online.it  ·  Genova  ·  Cruscotto di Controllo</a:t>
            </a:r>
            <a:endParaRPr sz="1000">
              <a:solidFill>
                <a:srgbClr val="8A93A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457200" y="1508760"/>
            <a:ext cx="45720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C8D0E0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3A4050"/>
                </a:solidFill>
                <a:latin typeface="Calibri"/>
                <a:ea typeface="Calibri"/>
                <a:cs typeface="Calibri"/>
                <a:sym typeface="Calibri"/>
              </a:rPr>
              <a:t>Il cruscotto direzionale basato sulla Balanced Scorecard misura la continuità aziendale e il rispetto del Codice della Crisi. Integra i dati da Azienda-Online per trasformare i numeri in decisioni strategiche.</a:t>
            </a:r>
            <a:endParaRPr b="0" i="0" sz="1250" u="none" cap="none" strike="noStrike">
              <a:solidFill>
                <a:srgbClr val="3A4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457200" y="2514600"/>
            <a:ext cx="2148840" cy="274320"/>
          </a:xfrm>
          <a:prstGeom prst="rect">
            <a:avLst/>
          </a:prstGeom>
          <a:solidFill>
            <a:srgbClr val="F0BA50"/>
          </a:solidFill>
          <a:ln cap="flat" cmpd="sng" w="12700">
            <a:solidFill>
              <a:srgbClr val="F0BA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640151" y="2514600"/>
            <a:ext cx="1782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BA50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3A4050"/>
                </a:solidFill>
                <a:latin typeface="Calibri"/>
                <a:ea typeface="Calibri"/>
                <a:cs typeface="Calibri"/>
                <a:sym typeface="Calibri"/>
              </a:rPr>
              <a:t>Balanced Scorecard</a:t>
            </a:r>
            <a:endParaRPr b="0" i="0" sz="1100" u="none" cap="none" strike="noStrike">
              <a:solidFill>
                <a:srgbClr val="3A4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2788920" y="2514600"/>
            <a:ext cx="2148840" cy="274320"/>
          </a:xfrm>
          <a:prstGeom prst="rect">
            <a:avLst/>
          </a:prstGeom>
          <a:solidFill>
            <a:srgbClr val="F0BA50"/>
          </a:solidFill>
          <a:ln cap="flat" cmpd="sng" w="12700">
            <a:solidFill>
              <a:srgbClr val="F0BA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3219262" y="2514600"/>
            <a:ext cx="1288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BA50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3A4050"/>
                </a:solidFill>
                <a:latin typeface="Calibri"/>
                <a:ea typeface="Calibri"/>
                <a:cs typeface="Calibri"/>
                <a:sym typeface="Calibri"/>
              </a:rPr>
              <a:t>KPI strategici</a:t>
            </a:r>
            <a:endParaRPr b="0" i="0" sz="1100" u="none" cap="none" strike="noStrike">
              <a:solidFill>
                <a:srgbClr val="3A4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457200" y="2862072"/>
            <a:ext cx="2148840" cy="274320"/>
          </a:xfrm>
          <a:prstGeom prst="rect">
            <a:avLst/>
          </a:prstGeom>
          <a:solidFill>
            <a:srgbClr val="F0BA50"/>
          </a:solidFill>
          <a:ln cap="flat" cmpd="sng" w="12700">
            <a:solidFill>
              <a:srgbClr val="F0BA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887548" y="2862076"/>
            <a:ext cx="1288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BA50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3A4050"/>
                </a:solidFill>
                <a:latin typeface="Calibri"/>
                <a:ea typeface="Calibri"/>
                <a:cs typeface="Calibri"/>
                <a:sym typeface="Calibri"/>
              </a:rPr>
              <a:t>Codice della Crisi</a:t>
            </a:r>
            <a:endParaRPr b="0" i="0" sz="1100" u="none" cap="none" strike="noStrike">
              <a:solidFill>
                <a:srgbClr val="3A4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2788920" y="2862072"/>
            <a:ext cx="2148840" cy="274320"/>
          </a:xfrm>
          <a:prstGeom prst="rect">
            <a:avLst/>
          </a:prstGeom>
          <a:solidFill>
            <a:srgbClr val="F0BA50"/>
          </a:solidFill>
          <a:ln cap="flat" cmpd="sng" w="12700">
            <a:solidFill>
              <a:srgbClr val="F0BA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3219262" y="2862076"/>
            <a:ext cx="1288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BA50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3A4050"/>
                </a:solidFill>
                <a:latin typeface="Calibri"/>
                <a:ea typeface="Calibri"/>
                <a:cs typeface="Calibri"/>
                <a:sym typeface="Calibri"/>
              </a:rPr>
              <a:t>OKR management</a:t>
            </a:r>
            <a:endParaRPr b="0" i="0" sz="1100" u="none" cap="none" strike="noStrike">
              <a:solidFill>
                <a:srgbClr val="3A4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5120640" y="685800"/>
            <a:ext cx="3657600" cy="3337560"/>
          </a:xfrm>
          <a:prstGeom prst="rect">
            <a:avLst/>
          </a:prstGeom>
          <a:solidFill>
            <a:srgbClr val="D4982A"/>
          </a:solidFill>
          <a:ln cap="flat" cmpd="sng" w="12700">
            <a:solidFill>
              <a:srgbClr val="D498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5303520" y="82296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BA5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0BA50"/>
                </a:solidFill>
                <a:latin typeface="Calibri"/>
                <a:ea typeface="Calibri"/>
                <a:cs typeface="Calibri"/>
                <a:sym typeface="Calibri"/>
              </a:rPr>
              <a:t>Benefici chiave</a:t>
            </a:r>
            <a:endParaRPr b="0" i="0" sz="1000" u="none" cap="none" strike="noStrike">
              <a:solidFill>
                <a:srgbClr val="F0BA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5303520" y="1234440"/>
            <a:ext cx="36576" cy="502920"/>
          </a:xfrm>
          <a:prstGeom prst="rect">
            <a:avLst/>
          </a:prstGeom>
          <a:solidFill>
            <a:srgbClr val="F0BA50"/>
          </a:solidFill>
          <a:ln cap="flat" cmpd="sng" w="12700">
            <a:solidFill>
              <a:srgbClr val="F0BA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5468112" y="1207008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7F6F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7F6F3"/>
                </a:solidFill>
                <a:latin typeface="Calibri"/>
                <a:ea typeface="Calibri"/>
                <a:cs typeface="Calibri"/>
                <a:sym typeface="Calibri"/>
              </a:rPr>
              <a:t>Monitoraggio continuo della salute aziendale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5303520" y="2039112"/>
            <a:ext cx="36576" cy="502920"/>
          </a:xfrm>
          <a:prstGeom prst="rect">
            <a:avLst/>
          </a:prstGeom>
          <a:solidFill>
            <a:srgbClr val="F0BA50"/>
          </a:solidFill>
          <a:ln cap="flat" cmpd="sng" w="12700">
            <a:solidFill>
              <a:srgbClr val="F0BA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5468112" y="2011680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7F6F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7F6F3"/>
                </a:solidFill>
                <a:latin typeface="Calibri"/>
                <a:ea typeface="Calibri"/>
                <a:cs typeface="Calibri"/>
                <a:sym typeface="Calibri"/>
              </a:rPr>
              <a:t>Allineamento tra obiettivi strategici e KPI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5303520" y="2843784"/>
            <a:ext cx="36576" cy="502920"/>
          </a:xfrm>
          <a:prstGeom prst="rect">
            <a:avLst/>
          </a:prstGeom>
          <a:solidFill>
            <a:srgbClr val="F0BA50"/>
          </a:solidFill>
          <a:ln cap="flat" cmpd="sng" w="12700">
            <a:solidFill>
              <a:srgbClr val="F0BA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5468112" y="2816352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7F6F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7F6F3"/>
                </a:solidFill>
                <a:latin typeface="Calibri"/>
                <a:ea typeface="Calibri"/>
                <a:cs typeface="Calibri"/>
                <a:sym typeface="Calibri"/>
              </a:rPr>
              <a:t>Conformità proattiva al Codice della Crisi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0" y="4229090"/>
            <a:ext cx="9144000" cy="914400"/>
          </a:xfrm>
          <a:prstGeom prst="rect">
            <a:avLst/>
          </a:prstGeom>
          <a:solidFill>
            <a:srgbClr val="D4982A"/>
          </a:solidFill>
          <a:ln cap="flat" cmpd="sng" w="12700">
            <a:solidFill>
              <a:srgbClr val="D498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457200" y="422909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E14"/>
              </a:buClr>
              <a:buSzPts val="1300"/>
              <a:buFont typeface="Georgia"/>
              <a:buNone/>
            </a:pPr>
            <a:r>
              <a:rPr b="0" i="1" lang="en-US" sz="1300" u="none" cap="none" strike="noStrike">
                <a:solidFill>
                  <a:srgbClr val="FDF5E6"/>
                </a:solidFill>
                <a:latin typeface="Georgia"/>
                <a:ea typeface="Georgia"/>
                <a:cs typeface="Georgia"/>
                <a:sym typeface="Georgia"/>
              </a:rPr>
              <a:t>« Trasformare i dati operativi in decisioni strategiche di continuità »</a:t>
            </a:r>
            <a:endParaRPr b="0" i="0" sz="1300" u="none" cap="none" strike="noStrike">
              <a:solidFill>
                <a:srgbClr val="FDF5E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457200" y="274320"/>
            <a:ext cx="1371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DF5E6"/>
                </a:solidFill>
                <a:latin typeface="Calibri"/>
                <a:ea typeface="Calibri"/>
                <a:cs typeface="Calibri"/>
                <a:sym typeface="Calibri"/>
              </a:rPr>
              <a:t>PARTNER  04</a:t>
            </a:r>
            <a:endParaRPr b="0" i="0" sz="800" u="none" cap="none" strike="noStrike">
              <a:solidFill>
                <a:srgbClr val="FDF5E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2" name="Google Shape;212;p6" title="AOL - Logomark Whit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9760" y="833652"/>
            <a:ext cx="554956" cy="34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5E6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7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4594"/>
          </a:solidFill>
          <a:ln cap="flat" cmpd="sng" w="12700">
            <a:solidFill>
              <a:srgbClr val="1045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56E8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8A93A8"/>
                </a:solidFill>
                <a:latin typeface="Calibri"/>
                <a:ea typeface="Calibri"/>
                <a:cs typeface="Calibri"/>
                <a:sym typeface="Calibri"/>
              </a:rPr>
              <a:t>ARCHITETTURA INTEGRATA</a:t>
            </a:r>
            <a:endParaRPr b="0" i="0" sz="800" u="none" cap="none" strike="noStrike">
              <a:solidFill>
                <a:srgbClr val="8A93A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457200" y="438900"/>
            <a:ext cx="8412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E14"/>
              </a:buClr>
              <a:buSzPts val="2200"/>
              <a:buFont typeface="Georgia"/>
              <a:buNone/>
            </a:pPr>
            <a:r>
              <a:rPr i="0" lang="en-US" sz="2200" u="none" cap="none" strike="noStrike">
                <a:solidFill>
                  <a:srgbClr val="10459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Come le quattro soluzioni si connettono e si amplificano</a:t>
            </a:r>
            <a:endParaRPr i="0" sz="2200" u="none" cap="none" strike="noStrike">
              <a:solidFill>
                <a:srgbClr val="104594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274320" y="4160520"/>
            <a:ext cx="8595300" cy="713100"/>
          </a:xfrm>
          <a:prstGeom prst="rect">
            <a:avLst/>
          </a:prstGeom>
          <a:solidFill>
            <a:srgbClr val="6FA3F8"/>
          </a:solidFill>
          <a:ln cap="flat" cmpd="sng" w="12700">
            <a:solidFill>
              <a:srgbClr val="6FA3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274320" y="4160520"/>
            <a:ext cx="45600" cy="713100"/>
          </a:xfrm>
          <a:prstGeom prst="rect">
            <a:avLst/>
          </a:prstGeom>
          <a:solidFill>
            <a:srgbClr val="104594"/>
          </a:solidFill>
          <a:ln cap="flat" cmpd="sng" w="12700">
            <a:solidFill>
              <a:srgbClr val="1045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457200" y="4160520"/>
            <a:ext cx="83211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7F6F3"/>
              </a:buClr>
              <a:buSzPts val="1050"/>
              <a:buFont typeface="Calibri"/>
              <a:buNone/>
            </a:pPr>
            <a:r>
              <a:rPr lang="en-US" sz="1200">
                <a:solidFill>
                  <a:srgbClr val="104594"/>
                </a:solidFill>
                <a:latin typeface="Calibri"/>
                <a:ea typeface="Calibri"/>
                <a:cs typeface="Calibri"/>
                <a:sym typeface="Calibri"/>
              </a:rPr>
              <a:t>Ogni soluzione alimenta le altre: i dati operativi di Azienda-Online diventano KPI nel Cruscotto; Mistral42 risponde con la conoscenza interna; la Suite Dotvocal gestisce la comunicazione multicanale.</a:t>
            </a:r>
            <a:endParaRPr b="0" i="0" sz="1200" u="none" cap="none" strike="noStrike">
              <a:solidFill>
                <a:srgbClr val="10459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4" name="Google Shape;224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8050" y="879183"/>
            <a:ext cx="5767900" cy="324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5E6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8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4594"/>
          </a:solidFill>
          <a:ln cap="flat" cmpd="sng" w="12700">
            <a:solidFill>
              <a:srgbClr val="1045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982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8A93A8"/>
                </a:solidFill>
                <a:latin typeface="Calibri"/>
                <a:ea typeface="Calibri"/>
                <a:cs typeface="Calibri"/>
                <a:sym typeface="Calibri"/>
              </a:rPr>
              <a:t>PERCHÉ ADOTTARLO</a:t>
            </a:r>
            <a:endParaRPr b="0" i="0" sz="800" u="none" cap="none" strike="noStrike">
              <a:solidFill>
                <a:srgbClr val="8A93A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457200" y="429768"/>
            <a:ext cx="73152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i="0" lang="en-US" sz="2200" u="none" cap="none" strike="noStrike">
                <a:solidFill>
                  <a:srgbClr val="10459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 vantaggi concreti per la tua </a:t>
            </a:r>
            <a:r>
              <a:rPr lang="en-US" sz="2200">
                <a:solidFill>
                  <a:srgbClr val="10459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Azienda</a:t>
            </a:r>
            <a:endParaRPr i="0" sz="2200" u="none" cap="none" strike="noStrike">
              <a:solidFill>
                <a:srgbClr val="104594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320040" y="1051560"/>
            <a:ext cx="2651760" cy="1554480"/>
          </a:xfrm>
          <a:prstGeom prst="rect">
            <a:avLst/>
          </a:prstGeom>
          <a:solidFill>
            <a:srgbClr val="6FA3F8"/>
          </a:solidFill>
          <a:ln cap="flat" cmpd="sng" w="12700">
            <a:solidFill>
              <a:srgbClr val="1045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320040" y="1051560"/>
            <a:ext cx="2651760" cy="36576"/>
          </a:xfrm>
          <a:prstGeom prst="rect">
            <a:avLst/>
          </a:prstGeom>
          <a:solidFill>
            <a:srgbClr val="E94E3E"/>
          </a:solidFill>
          <a:ln cap="flat" cmpd="sng" w="12700">
            <a:solidFill>
              <a:srgbClr val="E94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484632" y="1216152"/>
            <a:ext cx="402336" cy="402336"/>
          </a:xfrm>
          <a:prstGeom prst="ellipse">
            <a:avLst/>
          </a:prstGeom>
          <a:solidFill>
            <a:srgbClr val="E94E3E"/>
          </a:solidFill>
          <a:ln cap="flat" cmpd="sng" w="12700">
            <a:solidFill>
              <a:srgbClr val="EAB3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978408" y="1216152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Meno attività ripetitive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484632" y="1709928"/>
            <a:ext cx="232257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93A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DF5E6"/>
                </a:solidFill>
                <a:latin typeface="Calibri"/>
                <a:ea typeface="Calibri"/>
                <a:cs typeface="Calibri"/>
                <a:sym typeface="Calibri"/>
              </a:rPr>
              <a:t>L'AI automatizza ticket, ricerche documentali e inserimento dati: ore risparmiate ogni giorno.</a:t>
            </a:r>
            <a:endParaRPr b="0" i="0" sz="1050" u="none" cap="none" strike="noStrike">
              <a:solidFill>
                <a:srgbClr val="FDF5E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3227832" y="1051560"/>
            <a:ext cx="2651760" cy="1554480"/>
          </a:xfrm>
          <a:prstGeom prst="rect">
            <a:avLst/>
          </a:prstGeom>
          <a:solidFill>
            <a:srgbClr val="6FA3F8"/>
          </a:solidFill>
          <a:ln cap="flat" cmpd="sng" w="12700">
            <a:solidFill>
              <a:srgbClr val="1045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3227832" y="1051560"/>
            <a:ext cx="2651760" cy="36576"/>
          </a:xfrm>
          <a:prstGeom prst="rect">
            <a:avLst/>
          </a:prstGeom>
          <a:solidFill>
            <a:srgbClr val="D4982A"/>
          </a:solidFill>
          <a:ln cap="flat" cmpd="sng" w="12700">
            <a:solidFill>
              <a:srgbClr val="D498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3392424" y="1216152"/>
            <a:ext cx="402336" cy="402336"/>
          </a:xfrm>
          <a:prstGeom prst="ellipse">
            <a:avLst/>
          </a:prstGeom>
          <a:solidFill>
            <a:srgbClr val="D4982A"/>
          </a:solidFill>
          <a:ln cap="flat" cmpd="sng" w="12700">
            <a:solidFill>
              <a:srgbClr val="F0BA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3392559" y="1216150"/>
            <a:ext cx="402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E1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DF5E6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000" u="none" cap="none" strike="noStrike">
              <a:solidFill>
                <a:srgbClr val="FDF5E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3886200" y="1216152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Decisioni basate sui dati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3392424" y="1709928"/>
            <a:ext cx="232257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93A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DF5E6"/>
                </a:solidFill>
                <a:latin typeface="Calibri"/>
                <a:ea typeface="Calibri"/>
                <a:cs typeface="Calibri"/>
                <a:sym typeface="Calibri"/>
              </a:rPr>
              <a:t>Il Cruscotto trasforma dati gestionali in KPI strategici: sai sempre dove sei rispetto agli obiettivi.</a:t>
            </a:r>
            <a:endParaRPr b="0" i="0" sz="1050" u="none" cap="none" strike="noStrike">
              <a:solidFill>
                <a:srgbClr val="FDF5E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6135624" y="1051560"/>
            <a:ext cx="2651760" cy="1554480"/>
          </a:xfrm>
          <a:prstGeom prst="rect">
            <a:avLst/>
          </a:prstGeom>
          <a:solidFill>
            <a:srgbClr val="6FA3F8"/>
          </a:solidFill>
          <a:ln cap="flat" cmpd="sng" w="12700">
            <a:solidFill>
              <a:srgbClr val="1045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6135624" y="1051560"/>
            <a:ext cx="2651760" cy="36576"/>
          </a:xfrm>
          <a:prstGeom prst="rect">
            <a:avLst/>
          </a:prstGeom>
          <a:solidFill>
            <a:srgbClr val="1A56E8"/>
          </a:solidFill>
          <a:ln cap="flat" cmpd="sng" w="12700">
            <a:solidFill>
              <a:srgbClr val="1A5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6300216" y="1216152"/>
            <a:ext cx="402336" cy="402336"/>
          </a:xfrm>
          <a:prstGeom prst="ellipse">
            <a:avLst/>
          </a:prstGeom>
          <a:solidFill>
            <a:srgbClr val="1A56E8"/>
          </a:solidFill>
          <a:ln cap="flat" cmpd="sng" w="12700">
            <a:solidFill>
              <a:srgbClr val="C8D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6793992" y="1216152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Clienti sempre assistiti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6300216" y="1709928"/>
            <a:ext cx="232257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93A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DF5E6"/>
                </a:solidFill>
                <a:latin typeface="Calibri"/>
                <a:ea typeface="Calibri"/>
                <a:cs typeface="Calibri"/>
                <a:sym typeface="Calibri"/>
              </a:rPr>
              <a:t>Dotvocal garantisce risposte H24 su ogni canale senza aumentare il personale.</a:t>
            </a:r>
            <a:endParaRPr b="0" i="0" sz="1050" u="none" cap="none" strike="noStrike">
              <a:solidFill>
                <a:srgbClr val="FDF5E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320040" y="2807208"/>
            <a:ext cx="2651760" cy="1554480"/>
          </a:xfrm>
          <a:prstGeom prst="rect">
            <a:avLst/>
          </a:prstGeom>
          <a:solidFill>
            <a:srgbClr val="6FA3F8"/>
          </a:solidFill>
          <a:ln cap="flat" cmpd="sng" w="12700">
            <a:solidFill>
              <a:srgbClr val="1045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320040" y="2807208"/>
            <a:ext cx="2651760" cy="36576"/>
          </a:xfrm>
          <a:prstGeom prst="rect">
            <a:avLst/>
          </a:prstGeom>
          <a:solidFill>
            <a:srgbClr val="1B7B5A"/>
          </a:solidFill>
          <a:ln cap="flat" cmpd="sng" w="12700">
            <a:solidFill>
              <a:srgbClr val="1B7B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484632" y="2971800"/>
            <a:ext cx="402336" cy="402336"/>
          </a:xfrm>
          <a:prstGeom prst="ellipse">
            <a:avLst/>
          </a:prstGeom>
          <a:solidFill>
            <a:srgbClr val="1B7B5A"/>
          </a:solidFill>
          <a:ln cap="flat" cmpd="sng" w="12700">
            <a:solidFill>
              <a:srgbClr val="27AE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484725" y="2971800"/>
            <a:ext cx="402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E1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DF5E6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000" u="none" cap="none" strike="noStrike">
              <a:solidFill>
                <a:srgbClr val="FDF5E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978408" y="297180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Conoscenza accessibile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484632" y="3465576"/>
            <a:ext cx="232257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93A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DF5E6"/>
                </a:solidFill>
                <a:latin typeface="Calibri"/>
                <a:ea typeface="Calibri"/>
                <a:cs typeface="Calibri"/>
                <a:sym typeface="Calibri"/>
              </a:rPr>
              <a:t>Mistral42 trasforma manuali e procedure in una knowledge base interrogabile da tutto il team.</a:t>
            </a:r>
            <a:endParaRPr b="0" i="0" sz="1050" u="none" cap="none" strike="noStrike">
              <a:solidFill>
                <a:srgbClr val="FDF5E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3227832" y="2807208"/>
            <a:ext cx="2651760" cy="1554480"/>
          </a:xfrm>
          <a:prstGeom prst="rect">
            <a:avLst/>
          </a:prstGeom>
          <a:solidFill>
            <a:srgbClr val="6FA3F8"/>
          </a:solidFill>
          <a:ln cap="flat" cmpd="sng" w="12700">
            <a:solidFill>
              <a:srgbClr val="1045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3227832" y="2807208"/>
            <a:ext cx="2651760" cy="36576"/>
          </a:xfrm>
          <a:prstGeom prst="rect">
            <a:avLst/>
          </a:prstGeom>
          <a:solidFill>
            <a:srgbClr val="104594"/>
          </a:solidFill>
          <a:ln cap="flat" cmpd="sng" w="12700">
            <a:solidFill>
              <a:srgbClr val="1045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3392424" y="2971800"/>
            <a:ext cx="402336" cy="402336"/>
          </a:xfrm>
          <a:prstGeom prst="ellipse">
            <a:avLst/>
          </a:prstGeom>
          <a:solidFill>
            <a:srgbClr val="6FA3F8"/>
          </a:solidFill>
          <a:ln cap="flat" cmpd="sng" w="12700">
            <a:solidFill>
              <a:srgbClr val="1045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3392455" y="2971800"/>
            <a:ext cx="402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E1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DF5E6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000" u="none" cap="none" strike="noStrike">
              <a:solidFill>
                <a:srgbClr val="FDF5E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3886200" y="297180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Nessuna IT interna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3392424" y="3465576"/>
            <a:ext cx="232257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93A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DF5E6"/>
                </a:solidFill>
                <a:latin typeface="Calibri"/>
                <a:ea typeface="Calibri"/>
                <a:cs typeface="Calibri"/>
                <a:sym typeface="Calibri"/>
              </a:rPr>
              <a:t>Tutte le soluzioni sono cloud SaaS: nessun server, aggiornamenti automatici, accessibile ovunque.</a:t>
            </a:r>
            <a:endParaRPr b="0" i="0" sz="1050" u="none" cap="none" strike="noStrike">
              <a:solidFill>
                <a:srgbClr val="FDF5E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6135624" y="2807208"/>
            <a:ext cx="2651760" cy="1554480"/>
          </a:xfrm>
          <a:prstGeom prst="rect">
            <a:avLst/>
          </a:prstGeom>
          <a:solidFill>
            <a:srgbClr val="6FA3F8"/>
          </a:solidFill>
          <a:ln cap="flat" cmpd="sng" w="12700">
            <a:solidFill>
              <a:srgbClr val="1045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6135624" y="2807208"/>
            <a:ext cx="2651760" cy="36576"/>
          </a:xfrm>
          <a:prstGeom prst="rect">
            <a:avLst/>
          </a:prstGeom>
          <a:solidFill>
            <a:srgbClr val="F0BA50"/>
          </a:solidFill>
          <a:ln cap="flat" cmpd="sng" w="12700">
            <a:solidFill>
              <a:srgbClr val="F0BA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6300216" y="2971800"/>
            <a:ext cx="402336" cy="402336"/>
          </a:xfrm>
          <a:prstGeom prst="ellipse">
            <a:avLst/>
          </a:prstGeom>
          <a:solidFill>
            <a:srgbClr val="F0BA50"/>
          </a:solidFill>
          <a:ln cap="flat" cmpd="sng" w="12700">
            <a:solidFill>
              <a:srgbClr val="D498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6300400" y="2971800"/>
            <a:ext cx="4020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E1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DF5E6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000" u="none" cap="none" strike="noStrike">
              <a:solidFill>
                <a:srgbClr val="FDF5E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6793992" y="297180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Conformità normativa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6300216" y="3465576"/>
            <a:ext cx="232257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93A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DF5E6"/>
                </a:solidFill>
                <a:latin typeface="Calibri"/>
                <a:ea typeface="Calibri"/>
                <a:cs typeface="Calibri"/>
                <a:sym typeface="Calibri"/>
              </a:rPr>
              <a:t>Il Cruscotto monitora gli indicatori del Codice della Crisi d'Impresa, proteggendo l'imprenditore.</a:t>
            </a:r>
            <a:endParaRPr b="0" i="0" sz="1050" u="none" cap="none" strike="noStrike">
              <a:solidFill>
                <a:srgbClr val="FDF5E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8"/>
          <p:cNvSpPr/>
          <p:nvPr/>
        </p:nvSpPr>
        <p:spPr>
          <a:xfrm>
            <a:off x="6300200" y="1216150"/>
            <a:ext cx="402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E1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DF5E6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000" u="none" cap="none" strike="noStrike">
              <a:solidFill>
                <a:srgbClr val="FDF5E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484624" y="1216150"/>
            <a:ext cx="402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E14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DF5E6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000" u="none" cap="none" strike="noStrike">
              <a:solidFill>
                <a:srgbClr val="FDF5E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5E6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9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1A56E8">
              <a:alpha val="7058"/>
            </a:srgbClr>
          </a:solidFill>
          <a:ln cap="flat" cmpd="sng" w="12700">
            <a:solidFill>
              <a:srgbClr val="1A56E8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5486400" y="1828800"/>
            <a:ext cx="5486400" cy="5486400"/>
          </a:xfrm>
          <a:prstGeom prst="ellipse">
            <a:avLst/>
          </a:prstGeom>
          <a:solidFill>
            <a:srgbClr val="5B3FC2">
              <a:alpha val="7058"/>
            </a:srgbClr>
          </a:solidFill>
          <a:ln cap="flat" cmpd="sng" w="12700">
            <a:solidFill>
              <a:srgbClr val="5B3FC2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914400" y="198690"/>
            <a:ext cx="7315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Georgia"/>
              <a:buNone/>
            </a:pPr>
            <a:r>
              <a:rPr i="0" lang="en-US" sz="4000" u="none" cap="none" strike="noStrike">
                <a:solidFill>
                  <a:srgbClr val="10459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Pronto a trasformare</a:t>
            </a:r>
            <a:endParaRPr i="0" sz="4000" u="none" cap="none" strike="noStrike">
              <a:solidFill>
                <a:srgbClr val="104594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Georgia"/>
              <a:buNone/>
            </a:pPr>
            <a:r>
              <a:rPr i="0" lang="en-US" sz="4000" u="none" cap="none" strike="noStrike">
                <a:solidFill>
                  <a:srgbClr val="10459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la tua </a:t>
            </a:r>
            <a:r>
              <a:rPr lang="en-US" sz="4000">
                <a:solidFill>
                  <a:srgbClr val="10459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Azienda</a:t>
            </a:r>
            <a:r>
              <a:rPr i="0" lang="en-US" sz="4000" u="none" cap="none" strike="noStrike">
                <a:solidFill>
                  <a:srgbClr val="10459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?</a:t>
            </a:r>
            <a:endParaRPr i="0" sz="4000" u="none" cap="none" strike="noStrike">
              <a:solidFill>
                <a:srgbClr val="104594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525850" y="1570300"/>
            <a:ext cx="8092500" cy="14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8A93A8"/>
                </a:solidFill>
                <a:latin typeface="Calibri"/>
                <a:ea typeface="Calibri"/>
                <a:cs typeface="Calibri"/>
                <a:sym typeface="Calibri"/>
              </a:rPr>
              <a:t>Contatta uno dei partner per richiedere una demo personalizzata </a:t>
            </a:r>
            <a:br>
              <a:rPr lang="en-US">
                <a:solidFill>
                  <a:srgbClr val="8A93A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>
                <a:solidFill>
                  <a:srgbClr val="8A93A8"/>
                </a:solidFill>
                <a:latin typeface="Calibri"/>
                <a:ea typeface="Calibri"/>
                <a:cs typeface="Calibri"/>
                <a:sym typeface="Calibri"/>
              </a:rPr>
              <a:t>dell'ecosistema integrato AI per la tua azienda. </a:t>
            </a:r>
            <a:endParaRPr>
              <a:solidFill>
                <a:srgbClr val="8A93A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8A93A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8A93A8"/>
                </a:solidFill>
                <a:latin typeface="Calibri"/>
                <a:ea typeface="Calibri"/>
                <a:cs typeface="Calibri"/>
                <a:sym typeface="Calibri"/>
              </a:rPr>
              <a:t>Trasforma la tua Azienda con una sinergia di soluzioni all'avanguardia, pensate per digitalizzare, automatizzare e garantire un controllo strategico su ogni aspetto del tuo business. </a:t>
            </a:r>
            <a:endParaRPr>
              <a:solidFill>
                <a:srgbClr val="8A93A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9"/>
          <p:cNvSpPr/>
          <p:nvPr/>
        </p:nvSpPr>
        <p:spPr>
          <a:xfrm>
            <a:off x="525780" y="3290035"/>
            <a:ext cx="1920300" cy="475500"/>
          </a:xfrm>
          <a:prstGeom prst="rect">
            <a:avLst/>
          </a:prstGeom>
          <a:solidFill>
            <a:srgbClr val="1A56E8"/>
          </a:solidFill>
          <a:ln cap="flat" cmpd="sng" w="12700">
            <a:solidFill>
              <a:srgbClr val="6FA3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636650" y="3290025"/>
            <a:ext cx="1698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56E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DF5E6"/>
                </a:solidFill>
                <a:latin typeface="Calibri"/>
                <a:ea typeface="Calibri"/>
                <a:cs typeface="Calibri"/>
                <a:sym typeface="Calibri"/>
              </a:rPr>
              <a:t>Dot Vocal</a:t>
            </a:r>
            <a:endParaRPr b="0" i="0" sz="1100" u="none" cap="none" strike="noStrike">
              <a:solidFill>
                <a:srgbClr val="FDF5E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2583180" y="3290035"/>
            <a:ext cx="1920300" cy="475500"/>
          </a:xfrm>
          <a:prstGeom prst="rect">
            <a:avLst/>
          </a:prstGeom>
          <a:solidFill>
            <a:srgbClr val="E94E3E"/>
          </a:solidFill>
          <a:ln cap="flat" cmpd="sng" w="12700">
            <a:solidFill>
              <a:srgbClr val="EAB3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2694000" y="3290025"/>
            <a:ext cx="1698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FC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DF5E6"/>
                </a:solidFill>
                <a:latin typeface="Calibri"/>
                <a:ea typeface="Calibri"/>
                <a:cs typeface="Calibri"/>
                <a:sym typeface="Calibri"/>
              </a:rPr>
              <a:t>Mistral42</a:t>
            </a:r>
            <a:endParaRPr b="0" i="0" sz="1100" u="none" cap="none" strike="noStrike">
              <a:solidFill>
                <a:srgbClr val="FDF5E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9"/>
          <p:cNvSpPr/>
          <p:nvPr/>
        </p:nvSpPr>
        <p:spPr>
          <a:xfrm>
            <a:off x="4640580" y="3290035"/>
            <a:ext cx="1920300" cy="475500"/>
          </a:xfrm>
          <a:prstGeom prst="rect">
            <a:avLst/>
          </a:prstGeom>
          <a:solidFill>
            <a:srgbClr val="1B7B5A"/>
          </a:solidFill>
          <a:ln cap="flat" cmpd="sng" w="12700">
            <a:solidFill>
              <a:srgbClr val="27AE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9"/>
          <p:cNvSpPr/>
          <p:nvPr/>
        </p:nvSpPr>
        <p:spPr>
          <a:xfrm>
            <a:off x="4751400" y="3290025"/>
            <a:ext cx="1698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B5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DF5E6"/>
                </a:solidFill>
                <a:latin typeface="Calibri"/>
                <a:ea typeface="Calibri"/>
                <a:cs typeface="Calibri"/>
                <a:sym typeface="Calibri"/>
              </a:rPr>
              <a:t>Azienda-Online</a:t>
            </a:r>
            <a:endParaRPr b="0" i="0" sz="1100" u="none" cap="none" strike="noStrike">
              <a:solidFill>
                <a:srgbClr val="FDF5E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9"/>
          <p:cNvSpPr/>
          <p:nvPr/>
        </p:nvSpPr>
        <p:spPr>
          <a:xfrm>
            <a:off x="6697980" y="3290035"/>
            <a:ext cx="1920300" cy="475500"/>
          </a:xfrm>
          <a:prstGeom prst="rect">
            <a:avLst/>
          </a:prstGeom>
          <a:solidFill>
            <a:srgbClr val="D4982B"/>
          </a:solidFill>
          <a:ln cap="flat" cmpd="sng" w="12700">
            <a:solidFill>
              <a:srgbClr val="F0BA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9"/>
          <p:cNvSpPr/>
          <p:nvPr/>
        </p:nvSpPr>
        <p:spPr>
          <a:xfrm>
            <a:off x="6808800" y="3290025"/>
            <a:ext cx="1698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98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DF5E6"/>
                </a:solidFill>
                <a:latin typeface="Calibri"/>
                <a:ea typeface="Calibri"/>
                <a:cs typeface="Calibri"/>
                <a:sym typeface="Calibri"/>
              </a:rPr>
              <a:t>Cruscotto</a:t>
            </a:r>
            <a:endParaRPr b="0" i="0" sz="1100" u="none" cap="none" strike="noStrike">
              <a:solidFill>
                <a:srgbClr val="FDF5E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9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104594"/>
          </a:solidFill>
          <a:ln cap="flat" cmpd="sng" w="12700">
            <a:solidFill>
              <a:srgbClr val="1045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9"/>
          <p:cNvSpPr/>
          <p:nvPr/>
        </p:nvSpPr>
        <p:spPr>
          <a:xfrm>
            <a:off x="0" y="4297680"/>
            <a:ext cx="9144000" cy="36576"/>
          </a:xfrm>
          <a:prstGeom prst="rect">
            <a:avLst/>
          </a:prstGeom>
          <a:solidFill>
            <a:srgbClr val="6FA3F8"/>
          </a:solidFill>
          <a:ln cap="flat" cmpd="sng" w="12700">
            <a:solidFill>
              <a:srgbClr val="6FA3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9"/>
          <p:cNvSpPr/>
          <p:nvPr/>
        </p:nvSpPr>
        <p:spPr>
          <a:xfrm>
            <a:off x="457200" y="4297680"/>
            <a:ext cx="8229600" cy="845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3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DF5E6"/>
                </a:solidFill>
                <a:latin typeface="Calibri"/>
                <a:ea typeface="Calibri"/>
                <a:cs typeface="Calibri"/>
                <a:sym typeface="Calibri"/>
              </a:rPr>
              <a:t>AI Week  ·  Ecosistema AI Integrato per le </a:t>
            </a:r>
            <a:r>
              <a:rPr lang="en-US" sz="1000">
                <a:solidFill>
                  <a:srgbClr val="FDF5E6"/>
                </a:solidFill>
                <a:latin typeface="Calibri"/>
                <a:ea typeface="Calibri"/>
                <a:cs typeface="Calibri"/>
                <a:sym typeface="Calibri"/>
              </a:rPr>
              <a:t>Aziende</a:t>
            </a:r>
            <a:r>
              <a:rPr b="0" i="0" lang="en-US" sz="1000" u="none" cap="none" strike="noStrike">
                <a:solidFill>
                  <a:srgbClr val="FDF5E6"/>
                </a:solidFill>
                <a:latin typeface="Calibri"/>
                <a:ea typeface="Calibri"/>
                <a:cs typeface="Calibri"/>
                <a:sym typeface="Calibri"/>
              </a:rPr>
              <a:t> Italiane</a:t>
            </a:r>
            <a:endParaRPr b="0" i="0" sz="1000" u="none" cap="none" strike="noStrike">
              <a:solidFill>
                <a:srgbClr val="FDF5E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9"/>
          <p:cNvSpPr/>
          <p:nvPr/>
        </p:nvSpPr>
        <p:spPr>
          <a:xfrm>
            <a:off x="4640450" y="3754488"/>
            <a:ext cx="19203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8A93A8"/>
              </a:buClr>
              <a:buSzPts val="1400"/>
              <a:buFont typeface="Calibri"/>
              <a:buNone/>
            </a:pPr>
            <a:r>
              <a:rPr b="0" i="0" lang="en-US" sz="1000" u="none" cap="none" strike="noStrike">
                <a:solidFill>
                  <a:srgbClr val="1B7B5A"/>
                </a:solidFill>
                <a:latin typeface="Calibri"/>
                <a:ea typeface="Calibri"/>
                <a:cs typeface="Calibri"/>
                <a:sym typeface="Calibri"/>
              </a:rPr>
              <a:t>azienda-online.com</a:t>
            </a:r>
            <a:endParaRPr b="0" i="0" sz="1000" u="none" cap="none" strike="noStrike">
              <a:solidFill>
                <a:srgbClr val="1B7B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9"/>
          <p:cNvSpPr/>
          <p:nvPr/>
        </p:nvSpPr>
        <p:spPr>
          <a:xfrm>
            <a:off x="2583150" y="3754488"/>
            <a:ext cx="19203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8A93A8"/>
              </a:buClr>
              <a:buSzPts val="1400"/>
              <a:buFont typeface="Calibri"/>
              <a:buNone/>
            </a:pPr>
            <a:r>
              <a:rPr b="0" i="0" lang="en-US" sz="1000" u="none" cap="none" strike="noStrike">
                <a:solidFill>
                  <a:srgbClr val="E94E3E"/>
                </a:solidFill>
                <a:latin typeface="Calibri"/>
                <a:ea typeface="Calibri"/>
                <a:cs typeface="Calibri"/>
                <a:sym typeface="Calibri"/>
              </a:rPr>
              <a:t>mistralsolutions.it</a:t>
            </a:r>
            <a:endParaRPr b="0" i="0" sz="1000" u="none" cap="none" strike="noStrike">
              <a:solidFill>
                <a:srgbClr val="E94E3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9"/>
          <p:cNvSpPr/>
          <p:nvPr/>
        </p:nvSpPr>
        <p:spPr>
          <a:xfrm>
            <a:off x="525850" y="3754488"/>
            <a:ext cx="19203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8A93A8"/>
              </a:buClr>
              <a:buSzPts val="1400"/>
              <a:buFont typeface="Calibri"/>
              <a:buNone/>
            </a:pPr>
            <a:r>
              <a:rPr b="0" i="0" lang="en-US" sz="1000" u="none" cap="none" strike="noStrike">
                <a:solidFill>
                  <a:srgbClr val="1A56E8"/>
                </a:solidFill>
                <a:latin typeface="Calibri"/>
                <a:ea typeface="Calibri"/>
                <a:cs typeface="Calibri"/>
                <a:sym typeface="Calibri"/>
              </a:rPr>
              <a:t>dotvocal.com</a:t>
            </a:r>
            <a:endParaRPr b="0" i="0" sz="1000" u="none" cap="none" strike="noStrike">
              <a:solidFill>
                <a:srgbClr val="1A56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9"/>
          <p:cNvSpPr/>
          <p:nvPr/>
        </p:nvSpPr>
        <p:spPr>
          <a:xfrm>
            <a:off x="6697950" y="3754488"/>
            <a:ext cx="19203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8A93A8"/>
              </a:buClr>
              <a:buSzPts val="1400"/>
              <a:buFont typeface="Calibri"/>
              <a:buNone/>
            </a:pPr>
            <a:r>
              <a:rPr lang="en-US" sz="1000">
                <a:solidFill>
                  <a:srgbClr val="D4982A"/>
                </a:solidFill>
                <a:latin typeface="Calibri"/>
                <a:ea typeface="Calibri"/>
                <a:cs typeface="Calibri"/>
                <a:sym typeface="Calibri"/>
              </a:rPr>
              <a:t>azienda-online</a:t>
            </a:r>
            <a:r>
              <a:rPr b="0" i="0" lang="en-US" sz="1000" u="none" cap="none" strike="noStrike">
                <a:solidFill>
                  <a:srgbClr val="D4982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n-US" sz="1000">
                <a:solidFill>
                  <a:srgbClr val="D4982A"/>
                </a:solidFill>
                <a:latin typeface="Calibri"/>
                <a:ea typeface="Calibri"/>
                <a:cs typeface="Calibri"/>
                <a:sym typeface="Calibri"/>
              </a:rPr>
              <a:t>com</a:t>
            </a:r>
            <a:endParaRPr b="0" i="0" sz="1000" u="none" cap="none" strike="noStrike">
              <a:solidFill>
                <a:srgbClr val="D498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9"/>
          <p:cNvSpPr/>
          <p:nvPr/>
        </p:nvSpPr>
        <p:spPr>
          <a:xfrm>
            <a:off x="525776" y="3280888"/>
            <a:ext cx="4857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56E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56E8"/>
                </a:solidFill>
                <a:latin typeface="Calibri"/>
                <a:ea typeface="Calibri"/>
                <a:cs typeface="Calibri"/>
                <a:sym typeface="Calibri"/>
              </a:rPr>
              <a:t>🎙️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9"/>
          <p:cNvSpPr/>
          <p:nvPr/>
        </p:nvSpPr>
        <p:spPr>
          <a:xfrm>
            <a:off x="2583179" y="3280888"/>
            <a:ext cx="4857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FC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B3FC2"/>
                </a:solidFill>
                <a:latin typeface="Calibri"/>
                <a:ea typeface="Calibri"/>
                <a:cs typeface="Calibri"/>
                <a:sym typeface="Calibri"/>
              </a:rPr>
              <a:t>🧠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9"/>
          <p:cNvSpPr/>
          <p:nvPr/>
        </p:nvSpPr>
        <p:spPr>
          <a:xfrm>
            <a:off x="4640450" y="3280888"/>
            <a:ext cx="4857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B5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7B5A"/>
                </a:solidFill>
                <a:latin typeface="Calibri"/>
                <a:ea typeface="Calibri"/>
                <a:cs typeface="Calibri"/>
                <a:sym typeface="Calibri"/>
              </a:rPr>
              <a:t>📊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9"/>
          <p:cNvSpPr/>
          <p:nvPr/>
        </p:nvSpPr>
        <p:spPr>
          <a:xfrm>
            <a:off x="6697950" y="3290025"/>
            <a:ext cx="4857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98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4982A"/>
                </a:solidFill>
                <a:latin typeface="Calibri"/>
                <a:ea typeface="Calibri"/>
                <a:cs typeface="Calibri"/>
                <a:sym typeface="Calibri"/>
              </a:rPr>
              <a:t>🎯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2026-03-20T08:25:45Z</dcterms:created>
  <dc:creator>PptxGenJS</dc:creator>
</cp:coreProperties>
</file>